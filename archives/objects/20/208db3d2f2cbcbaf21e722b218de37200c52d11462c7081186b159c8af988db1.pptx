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71" r:id="rId6"/>
    <p:sldId id="261" r:id="rId7"/>
    <p:sldId id="272" r:id="rId8"/>
    <p:sldId id="268" r:id="rId9"/>
    <p:sldId id="259" r:id="rId10"/>
    <p:sldId id="263" r:id="rId11"/>
    <p:sldId id="265" r:id="rId12"/>
    <p:sldId id="267" r:id="rId13"/>
    <p:sldId id="264" r:id="rId1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本页为项目封面。未使用 APEC 官方标识。正式对外版本需依据授权范围调整名称、标识和发布称谓。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已确认：项目主题、副标题和公众互动定位。风险：对外传播前需确认 APEC 名称、主题与素材授权边界。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低保真原型需要验证序章时长、章节跳转、跳过入口和返回路径是否易于理解。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已确认：用户从技艺讲解进入五步创作，获得主题海报和 3D 数字作品，并可加入公共共创画面。图中共彩之海仅代表现有效果图，不等于公共共创画面的最终方向。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概念图由图像生成工具制作，用于说明沿动线浏览、点选章节和开始添彩三种状态。正式制作采用最终杯型和高保真界面规范。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风险边界：本页效果图用于说明产品概念。正式技术能力需以可运行原型、目标手机加载时间、帧率和降级效果验证为准。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建议：采用预渲染 3D 动画承担技艺讲解，采用实时 3D 承担创作预览与作品查看。实时效果、模型精度与目标设备性能需通过原型验证。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已确认：五步交互名称为描线、填色、织金、封边斗彩、烧制成器。待确认：工艺准确性、用词与顺序。APEC 价值词为辅助解释，工艺操作仍是页面主体。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已确认：个人成果为主题海报和 3D 数字作品。两个成果来自同一次创作并保持配置一致。数字作品不等同于实物商品。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建议：共彩贡献榜按有效新增作品计数，单纯分享不计分。待确认：是否采用排行榜、活动周期、有效贡献认定、防刷规则、奖品及发放方式。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待确认：最终互动杯型、可用纹样、广彩常用色、金彩与边饰规则。当前图像仅用于说明内容结构，不代表实物商品或最终生产结果。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06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t="14474" b="14474"/>
          <a:stretch>
            <a:fillRect/>
          </a:stretch>
        </p:blipFill>
        <p:spPr>
          <a:xfrm>
            <a:off x="4953000" y="0"/>
            <a:ext cx="7239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5429250" cy="6858000"/>
          </a:xfrm>
          <a:prstGeom prst="rect">
            <a:avLst/>
          </a:prstGeom>
          <a:solidFill>
            <a:srgbClr val="4D061B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8382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E7C67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E7C67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H5 产品方案</a:t>
            </a:r>
            <a:endParaRPr sz="1125" b="1">
              <a:solidFill>
                <a:srgbClr val="E7C67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1524000"/>
            <a:ext cx="457200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3750" b="1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defRPr>
            </a:pPr>
            <a:r>
              <a:rPr sz="3750" b="1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为 APEC 添彩</a:t>
            </a:r>
            <a:endParaRPr sz="3750" b="1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E7C67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defRPr>
            </a:pPr>
            <a:r>
              <a:rPr sz="1875" b="0">
                <a:solidFill>
                  <a:srgbClr val="E7C67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一指添彩，万彩共生</a:t>
            </a:r>
            <a:endParaRPr sz="1875" b="0">
              <a:solidFill>
                <a:srgbClr val="E7C67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3181350"/>
            <a:ext cx="3333750" cy="19050"/>
          </a:xfrm>
          <a:prstGeom prst="rect">
            <a:avLst/>
          </a:prstGeom>
          <a:solidFill>
            <a:srgbClr val="BD8532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3448050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永丰源广彩互动 H5</a:t>
            </a:r>
            <a:endParaRPr sz="18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56769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E7C67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zh-CN" sz="1125" b="0">
                <a:solidFill>
                  <a:srgbClr val="E7C67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产品方案</a:t>
            </a:r>
            <a:r>
              <a:rPr sz="1125" b="0">
                <a:solidFill>
                  <a:srgbClr val="E7C67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V1.0</a:t>
            </a:r>
            <a:endParaRPr sz="1125" b="0">
              <a:solidFill>
                <a:srgbClr val="E7C67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6115050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D9C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en-US" sz="900" b="0">
                <a:solidFill>
                  <a:srgbClr val="D9C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2026</a:t>
            </a:r>
            <a:r>
              <a:rPr lang="zh-CN" altLang="en-US" sz="900" b="0">
                <a:solidFill>
                  <a:srgbClr val="D9C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年</a:t>
            </a:r>
            <a:r>
              <a:rPr lang="en-US" altLang="zh-CN" sz="900" b="0">
                <a:solidFill>
                  <a:srgbClr val="D9C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9</a:t>
            </a:r>
            <a:r>
              <a:rPr lang="zh-CN" altLang="en-US" sz="900" b="0">
                <a:solidFill>
                  <a:srgbClr val="D9C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月</a:t>
            </a:r>
            <a:r>
              <a:rPr lang="en-US" altLang="zh-CN" sz="900" b="0">
                <a:solidFill>
                  <a:srgbClr val="D9C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22</a:t>
            </a:r>
            <a:r>
              <a:rPr lang="zh-CN" altLang="en-US" sz="900" b="0">
                <a:solidFill>
                  <a:srgbClr val="D9C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日</a:t>
            </a:r>
            <a:endParaRPr lang="zh-CN" altLang="en-US" sz="900" b="0">
              <a:solidFill>
                <a:srgbClr val="D9C9C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D061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495300" y="304800"/>
            <a:ext cx="438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20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" y="257175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29"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defRPr>
            </a:pPr>
            <a:r>
              <a:rPr lang="zh-CN" altLang="en-US"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项目背景与产品定位</a:t>
            </a:r>
            <a:endParaRPr lang="zh-CN" altLang="en-US" sz="2550" b="1">
              <a:solidFill>
                <a:srgbClr val="4D061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28700" y="742950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zh-CN" altLang="en-US"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立足亚太宏大背景，以五维一体定义产品核心价值</a:t>
            </a:r>
            <a:endParaRPr lang="zh-CN" altLang="en-US" sz="135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1181100"/>
            <a:ext cx="11201400" cy="19050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960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 lnSpcReduction="20000"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 APEC 添彩  ·  永丰源广彩互动 H5 产品方案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49605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 lnSpcReduction="20000"/>
          </a:bodyPr>
          <a:lstStyle/>
          <a:p>
            <a:pPr algn="r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762250" y="1666875"/>
            <a:ext cx="6667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23"/>
          </a:bodyPr>
          <a:lstStyle/>
          <a:p>
            <a:pPr algn="ctr">
              <a:lnSpc>
                <a:spcPct val="115000"/>
              </a:lnSpc>
              <a:buNone/>
              <a:defRPr sz="270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defRPr>
            </a:pPr>
            <a:r>
              <a:rPr sz="270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为 APEC 添彩</a:t>
            </a:r>
            <a:endParaRPr sz="2700" b="1">
              <a:solidFill>
                <a:srgbClr val="4D061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762250" y="2238375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一指添彩，万彩共生</a:t>
            </a:r>
            <a:endParaRPr sz="165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762250" y="2724150"/>
            <a:ext cx="6667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以广彩技艺讲解和数字创作为核心的公众互动 H5</a:t>
            </a:r>
            <a:r>
              <a:rPr lang="zh-CN" sz="1575" b="1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（名称待定）</a:t>
            </a:r>
            <a:endParaRPr lang="zh-CN" sz="1575" b="1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34085" y="53149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zh-CN" altLang="en-US" sz="150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紧扣 2026 </a:t>
            </a:r>
            <a:r>
              <a:rPr lang="en-US" altLang="zh-CN" sz="150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APEC“</a:t>
            </a:r>
            <a:r>
              <a:rPr lang="zh-CN" altLang="en-US" sz="150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建设亚太共同体，促进共同繁荣”主题，围绕“开放、创新、合作”三大优先领域，以广彩非遗为纽带，连接品牌与公众。</a:t>
            </a:r>
            <a:endParaRPr lang="zh-CN" altLang="en-US" sz="1500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 rot="0">
            <a:off x="8922385" y="3524250"/>
            <a:ext cx="1504950" cy="1428750"/>
            <a:chOff x="12775" y="5550"/>
            <a:chExt cx="2370" cy="2250"/>
          </a:xfrm>
        </p:grpSpPr>
        <p:sp>
          <p:nvSpPr>
            <p:cNvPr id="8" name="圆角矩形 7"/>
            <p:cNvSpPr>
              <a:spLocks noGrp="1"/>
            </p:cNvSpPr>
            <p:nvPr>
              <p:custDataLst>
                <p:tags r:id="rId1"/>
              </p:custDataLst>
            </p:nvPr>
          </p:nvSpPr>
          <p:spPr>
            <a:xfrm>
              <a:off x="12775" y="5550"/>
              <a:ext cx="2370" cy="2250"/>
            </a:xfrm>
            <a:prstGeom prst="roundRect">
              <a:avLst>
                <a:gd name="adj" fmla="val 5333"/>
              </a:avLst>
            </a:prstGeom>
            <a:solidFill>
              <a:srgbClr val="E7F0E9"/>
            </a:solidFill>
            <a:ln w="19050">
              <a:solidFill>
                <a:srgbClr val="356F62"/>
              </a:solidFill>
            </a:ln>
          </p:spPr>
        </p:sp>
        <p:sp>
          <p:nvSpPr>
            <p:cNvPr id="27" name="矩形 26"/>
            <p:cNvSpPr>
              <a:spLocks noGrp="1"/>
            </p:cNvSpPr>
            <p:nvPr>
              <p:custDataLst>
                <p:tags r:id="rId2"/>
              </p:custDataLst>
            </p:nvPr>
          </p:nvSpPr>
          <p:spPr>
            <a:xfrm>
              <a:off x="12955" y="5790"/>
              <a:ext cx="2010" cy="54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rmAutofit/>
            </a:bodyPr>
            <a:lstStyle/>
            <a:p>
              <a:pPr algn="ctr">
                <a:lnSpc>
                  <a:spcPct val="115000"/>
                </a:lnSpc>
                <a:buNone/>
                <a:defRPr sz="1425" b="1">
                  <a:solidFill>
                    <a:srgbClr val="356F62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defRPr>
              </a:pPr>
              <a:r>
                <a:rPr lang="zh-CN" altLang="en-US" sz="1425" b="1">
                  <a:solidFill>
                    <a:srgbClr val="356F62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传播</a:t>
              </a:r>
              <a:endParaRPr lang="zh-CN" altLang="en-US" sz="1425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28" name="矩形 27"/>
            <p:cNvSpPr>
              <a:spLocks noGrp="1"/>
            </p:cNvSpPr>
            <p:nvPr>
              <p:custDataLst>
                <p:tags r:id="rId3"/>
              </p:custDataLst>
            </p:nvPr>
          </p:nvSpPr>
          <p:spPr>
            <a:xfrm>
              <a:off x="12955" y="6510"/>
              <a:ext cx="2010" cy="87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rmAutofit/>
            </a:bodyPr>
            <a:lstStyle/>
            <a:p>
              <a:pPr algn="ctr">
                <a:lnSpc>
                  <a:spcPct val="120000"/>
                </a:lnSpc>
                <a:buNone/>
                <a:defRPr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defRPr>
              </a:pPr>
              <a:r>
                <a:rPr lang="zh-CN" altLang="en-US"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数字链接</a:t>
              </a:r>
              <a:endParaRPr lang="zh-CN" altLang="en-US"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algn="ctr">
                <a:lnSpc>
                  <a:spcPct val="120000"/>
                </a:lnSpc>
                <a:buNone/>
                <a:defRPr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defRPr>
              </a:pPr>
              <a:r>
                <a:rPr lang="zh-CN" altLang="en-US"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广泛触达</a:t>
              </a:r>
              <a:endParaRPr lang="zh-CN" altLang="en-US"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4"/>
            </p:custDataLst>
          </p:nvPr>
        </p:nvGrpSpPr>
        <p:grpSpPr>
          <a:xfrm rot="0">
            <a:off x="1764665" y="3524250"/>
            <a:ext cx="1504950" cy="1428750"/>
            <a:chOff x="1502" y="5550"/>
            <a:chExt cx="2370" cy="2250"/>
          </a:xfrm>
        </p:grpSpPr>
        <p:sp>
          <p:nvSpPr>
            <p:cNvPr id="31" name="圆角矩形 30"/>
            <p:cNvSpPr>
              <a:spLocks noGrp="1"/>
            </p:cNvSpPr>
            <p:nvPr>
              <p:custDataLst>
                <p:tags r:id="rId5"/>
              </p:custDataLst>
            </p:nvPr>
          </p:nvSpPr>
          <p:spPr>
            <a:xfrm>
              <a:off x="1502" y="5550"/>
              <a:ext cx="2370" cy="2250"/>
            </a:xfrm>
            <a:prstGeom prst="roundRect">
              <a:avLst>
                <a:gd name="adj" fmla="val 5333"/>
              </a:avLst>
            </a:prstGeom>
            <a:solidFill>
              <a:srgbClr val="FFF9ED"/>
            </a:solidFill>
            <a:ln w="19050">
              <a:solidFill>
                <a:srgbClr val="D9CDB4"/>
              </a:solidFill>
            </a:ln>
          </p:spPr>
        </p:sp>
        <p:sp>
          <p:nvSpPr>
            <p:cNvPr id="32" name="矩形 31"/>
            <p:cNvSpPr>
              <a:spLocks noGrp="1"/>
            </p:cNvSpPr>
            <p:nvPr>
              <p:custDataLst>
                <p:tags r:id="rId6"/>
              </p:custDataLst>
            </p:nvPr>
          </p:nvSpPr>
          <p:spPr>
            <a:xfrm>
              <a:off x="1682" y="5790"/>
              <a:ext cx="2010" cy="54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rmAutofit/>
            </a:bodyPr>
            <a:lstStyle/>
            <a:p>
              <a:pPr algn="ctr">
                <a:lnSpc>
                  <a:spcPct val="115000"/>
                </a:lnSpc>
                <a:buNone/>
                <a:defRPr sz="1425" b="1">
                  <a:solidFill>
                    <a:srgbClr val="4D061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defRPr>
              </a:pPr>
              <a:r>
                <a:rPr lang="zh-CN" sz="1425" b="1">
                  <a:solidFill>
                    <a:srgbClr val="4D061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背景</a:t>
              </a:r>
              <a:endParaRPr lang="zh-CN" sz="142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34" name="矩形 33"/>
            <p:cNvSpPr>
              <a:spLocks noGrp="1"/>
            </p:cNvSpPr>
            <p:nvPr>
              <p:custDataLst>
                <p:tags r:id="rId7"/>
              </p:custDataLst>
            </p:nvPr>
          </p:nvSpPr>
          <p:spPr>
            <a:xfrm>
              <a:off x="1682" y="6510"/>
              <a:ext cx="2010" cy="87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rmAutofit/>
            </a:bodyPr>
            <a:lstStyle/>
            <a:p>
              <a:pPr algn="ctr">
                <a:lnSpc>
                  <a:spcPct val="120000"/>
                </a:lnSpc>
                <a:buNone/>
                <a:defRPr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defRPr>
              </a:pPr>
              <a:r>
                <a:rPr lang="zh-CN" altLang="en-US"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立足亚太</a:t>
              </a:r>
              <a:endParaRPr lang="zh-CN" altLang="en-US"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algn="ctr">
                <a:lnSpc>
                  <a:spcPct val="120000"/>
                </a:lnSpc>
                <a:buNone/>
                <a:defRPr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defRPr>
              </a:pPr>
              <a:r>
                <a:rPr lang="zh-CN" altLang="en-US"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共襄盛举</a:t>
              </a:r>
              <a:endParaRPr lang="zh-CN" altLang="en-US"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 rot="0">
            <a:off x="3554095" y="3524250"/>
            <a:ext cx="1504950" cy="1428750"/>
            <a:chOff x="4277" y="5550"/>
            <a:chExt cx="2370" cy="2250"/>
          </a:xfrm>
        </p:grpSpPr>
        <p:sp>
          <p:nvSpPr>
            <p:cNvPr id="37" name="圆角矩形 36"/>
            <p:cNvSpPr>
              <a:spLocks noGrp="1"/>
            </p:cNvSpPr>
            <p:nvPr>
              <p:custDataLst>
                <p:tags r:id="rId8"/>
              </p:custDataLst>
            </p:nvPr>
          </p:nvSpPr>
          <p:spPr>
            <a:xfrm>
              <a:off x="4277" y="5550"/>
              <a:ext cx="2370" cy="2250"/>
            </a:xfrm>
            <a:prstGeom prst="roundRect">
              <a:avLst>
                <a:gd name="adj" fmla="val 5333"/>
              </a:avLst>
            </a:prstGeom>
            <a:solidFill>
              <a:srgbClr val="FFF9ED"/>
            </a:solidFill>
            <a:ln w="19050">
              <a:solidFill>
                <a:srgbClr val="D9CDB4"/>
              </a:solidFill>
            </a:ln>
          </p:spPr>
        </p:sp>
        <p:sp>
          <p:nvSpPr>
            <p:cNvPr id="38" name="矩形 37"/>
            <p:cNvSpPr>
              <a:spLocks noGrp="1"/>
            </p:cNvSpPr>
            <p:nvPr>
              <p:custDataLst>
                <p:tags r:id="rId9"/>
              </p:custDataLst>
            </p:nvPr>
          </p:nvSpPr>
          <p:spPr>
            <a:xfrm>
              <a:off x="4457" y="5790"/>
              <a:ext cx="2010" cy="54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rmAutofit/>
            </a:bodyPr>
            <a:lstStyle/>
            <a:p>
              <a:pPr algn="ctr">
                <a:lnSpc>
                  <a:spcPct val="115000"/>
                </a:lnSpc>
                <a:buNone/>
                <a:defRPr sz="1425" b="1">
                  <a:solidFill>
                    <a:srgbClr val="4D061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defRPr>
              </a:pPr>
              <a:r>
                <a:rPr sz="1425" b="1">
                  <a:solidFill>
                    <a:srgbClr val="4D061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文化</a:t>
              </a:r>
              <a:endParaRPr sz="142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39" name="矩形 38"/>
            <p:cNvSpPr>
              <a:spLocks noGrp="1"/>
            </p:cNvSpPr>
            <p:nvPr>
              <p:custDataLst>
                <p:tags r:id="rId10"/>
              </p:custDataLst>
            </p:nvPr>
          </p:nvSpPr>
          <p:spPr>
            <a:xfrm>
              <a:off x="4457" y="6510"/>
              <a:ext cx="2010" cy="87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rmAutofit/>
            </a:bodyPr>
            <a:lstStyle/>
            <a:p>
              <a:pPr algn="ctr">
                <a:lnSpc>
                  <a:spcPct val="120000"/>
                </a:lnSpc>
                <a:buNone/>
                <a:defRPr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defRPr>
              </a:pPr>
              <a:r>
                <a:rPr lang="zh-CN" altLang="en-US"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传承广彩</a:t>
              </a:r>
              <a:endParaRPr lang="zh-CN" altLang="en-US"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algn="ctr">
                <a:lnSpc>
                  <a:spcPct val="120000"/>
                </a:lnSpc>
                <a:buNone/>
                <a:defRPr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defRPr>
              </a:pPr>
              <a:r>
                <a:rPr lang="zh-CN" altLang="en-US"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东方气韵</a:t>
              </a:r>
              <a:endParaRPr lang="zh-CN" altLang="en-US"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 rot="0">
            <a:off x="5343525" y="3524250"/>
            <a:ext cx="1504950" cy="1428750"/>
            <a:chOff x="7052" y="5550"/>
            <a:chExt cx="2370" cy="2250"/>
          </a:xfrm>
        </p:grpSpPr>
        <p:sp>
          <p:nvSpPr>
            <p:cNvPr id="42" name="圆角矩形 41"/>
            <p:cNvSpPr>
              <a:spLocks noGrp="1"/>
            </p:cNvSpPr>
            <p:nvPr>
              <p:custDataLst>
                <p:tags r:id="rId11"/>
              </p:custDataLst>
            </p:nvPr>
          </p:nvSpPr>
          <p:spPr>
            <a:xfrm>
              <a:off x="7052" y="5550"/>
              <a:ext cx="2370" cy="2250"/>
            </a:xfrm>
            <a:prstGeom prst="roundRect">
              <a:avLst>
                <a:gd name="adj" fmla="val 5333"/>
              </a:avLst>
            </a:prstGeom>
            <a:solidFill>
              <a:srgbClr val="E7F0E9"/>
            </a:solidFill>
            <a:ln w="19050">
              <a:solidFill>
                <a:srgbClr val="356F62"/>
              </a:solidFill>
            </a:ln>
          </p:spPr>
        </p:sp>
        <p:sp>
          <p:nvSpPr>
            <p:cNvPr id="43" name="矩形 42"/>
            <p:cNvSpPr>
              <a:spLocks noGrp="1"/>
            </p:cNvSpPr>
            <p:nvPr>
              <p:custDataLst>
                <p:tags r:id="rId12"/>
              </p:custDataLst>
            </p:nvPr>
          </p:nvSpPr>
          <p:spPr>
            <a:xfrm>
              <a:off x="7232" y="5790"/>
              <a:ext cx="2010" cy="54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rmAutofit/>
            </a:bodyPr>
            <a:lstStyle/>
            <a:p>
              <a:pPr algn="ctr">
                <a:lnSpc>
                  <a:spcPct val="115000"/>
                </a:lnSpc>
                <a:buNone/>
                <a:defRPr sz="1425" b="1">
                  <a:solidFill>
                    <a:srgbClr val="356F62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defRPr>
              </a:pPr>
              <a:r>
                <a:rPr sz="1425" b="1">
                  <a:solidFill>
                    <a:srgbClr val="356F62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品牌</a:t>
              </a:r>
              <a:endParaRPr sz="1425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44" name="矩形 43"/>
            <p:cNvSpPr>
              <a:spLocks noGrp="1"/>
            </p:cNvSpPr>
            <p:nvPr>
              <p:custDataLst>
                <p:tags r:id="rId13"/>
              </p:custDataLst>
            </p:nvPr>
          </p:nvSpPr>
          <p:spPr>
            <a:xfrm>
              <a:off x="7232" y="6510"/>
              <a:ext cx="2010" cy="87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rmAutofit/>
            </a:bodyPr>
            <a:lstStyle/>
            <a:p>
              <a:pPr algn="ctr">
                <a:lnSpc>
                  <a:spcPct val="120000"/>
                </a:lnSpc>
                <a:buNone/>
                <a:defRPr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defRPr>
              </a:pPr>
              <a:r>
                <a:rPr lang="zh-CN" altLang="en-US"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匠心瓷艺</a:t>
              </a:r>
              <a:endParaRPr lang="zh-CN" altLang="en-US"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algn="ctr">
                <a:lnSpc>
                  <a:spcPct val="120000"/>
                </a:lnSpc>
                <a:buNone/>
                <a:defRPr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defRPr>
              </a:pPr>
              <a:r>
                <a:rPr lang="zh-CN" altLang="en-US"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赋能创新</a:t>
              </a:r>
              <a:endParaRPr lang="zh-CN" altLang="en-US"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 rot="0">
            <a:off x="7132955" y="3524250"/>
            <a:ext cx="1504950" cy="1428750"/>
            <a:chOff x="9827" y="5550"/>
            <a:chExt cx="2370" cy="2250"/>
          </a:xfrm>
        </p:grpSpPr>
        <p:sp>
          <p:nvSpPr>
            <p:cNvPr id="45" name="圆角矩形 44"/>
            <p:cNvSpPr>
              <a:spLocks noGrp="1"/>
            </p:cNvSpPr>
            <p:nvPr>
              <p:custDataLst>
                <p:tags r:id="rId14"/>
              </p:custDataLst>
            </p:nvPr>
          </p:nvSpPr>
          <p:spPr>
            <a:xfrm>
              <a:off x="9827" y="5550"/>
              <a:ext cx="2370" cy="2250"/>
            </a:xfrm>
            <a:prstGeom prst="roundRect">
              <a:avLst>
                <a:gd name="adj" fmla="val 5333"/>
              </a:avLst>
            </a:prstGeom>
            <a:solidFill>
              <a:srgbClr val="FFF9ED"/>
            </a:solidFill>
            <a:ln w="19050">
              <a:solidFill>
                <a:srgbClr val="D9CDB4"/>
              </a:solidFill>
            </a:ln>
          </p:spPr>
        </p:sp>
        <p:sp>
          <p:nvSpPr>
            <p:cNvPr id="46" name="矩形 45"/>
            <p:cNvSpPr>
              <a:spLocks noGrp="1"/>
            </p:cNvSpPr>
            <p:nvPr>
              <p:custDataLst>
                <p:tags r:id="rId15"/>
              </p:custDataLst>
            </p:nvPr>
          </p:nvSpPr>
          <p:spPr>
            <a:xfrm>
              <a:off x="10007" y="5790"/>
              <a:ext cx="2010" cy="54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rmAutofit/>
            </a:bodyPr>
            <a:lstStyle/>
            <a:p>
              <a:pPr algn="ctr">
                <a:lnSpc>
                  <a:spcPct val="115000"/>
                </a:lnSpc>
                <a:buNone/>
                <a:defRPr sz="1425" b="1">
                  <a:solidFill>
                    <a:srgbClr val="4D061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defRPr>
              </a:pPr>
              <a:r>
                <a:rPr sz="1425" b="1">
                  <a:solidFill>
                    <a:srgbClr val="4D061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公众</a:t>
              </a:r>
              <a:endParaRPr sz="142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47" name="矩形 46"/>
            <p:cNvSpPr>
              <a:spLocks noGrp="1"/>
            </p:cNvSpPr>
            <p:nvPr>
              <p:custDataLst>
                <p:tags r:id="rId16"/>
              </p:custDataLst>
            </p:nvPr>
          </p:nvSpPr>
          <p:spPr>
            <a:xfrm>
              <a:off x="10007" y="6510"/>
              <a:ext cx="2010" cy="87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rmAutofit/>
            </a:bodyPr>
            <a:lstStyle/>
            <a:p>
              <a:pPr algn="ctr">
                <a:lnSpc>
                  <a:spcPct val="120000"/>
                </a:lnSpc>
                <a:buNone/>
                <a:defRPr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defRPr>
              </a:pPr>
              <a:r>
                <a:rPr lang="zh-CN" altLang="en-US"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指尖添彩</a:t>
              </a:r>
              <a:endParaRPr lang="zh-CN" altLang="en-US"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algn="ctr">
                <a:lnSpc>
                  <a:spcPct val="120000"/>
                </a:lnSpc>
                <a:buNone/>
                <a:defRPr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defRPr>
              </a:pPr>
              <a:r>
                <a:rPr lang="zh-CN" altLang="en-US" sz="1125" b="0">
                  <a:solidFill>
                    <a:srgbClr val="2A242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全民共创</a:t>
              </a:r>
              <a:endParaRPr lang="zh-CN" altLang="en-US"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矩形 40"/>
          <p:cNvSpPr>
            <a:spLocks noGrp="1"/>
          </p:cNvSpPr>
          <p:nvPr/>
        </p:nvSpPr>
        <p:spPr>
          <a:xfrm>
            <a:off x="514350" y="40005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1">
              <a:solidFill>
                <a:srgbClr val="B78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66800" y="314325"/>
            <a:ext cx="9858375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30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0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用户体验流程</a:t>
            </a:r>
            <a:endParaRPr sz="3000" b="1">
              <a:solidFill>
                <a:srgbClr val="4B0A1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" y="8477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从3</a:t>
            </a:r>
            <a:r>
              <a:rPr lang="en-US" altLang="zh-CN" sz="1275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1275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技艺讲解进入陶瓷杯</a:t>
            </a:r>
            <a:r>
              <a:rPr lang="en-US" altLang="zh-CN" sz="1275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DIY，</a:t>
            </a:r>
            <a:r>
              <a:rPr lang="zh-CN" altLang="en-US" sz="1275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最终获得主题海报与3</a:t>
            </a:r>
            <a:r>
              <a:rPr lang="en-US" altLang="zh-CN" sz="1275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1275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</a:t>
            </a:r>
            <a:endParaRPr lang="zh-CN" altLang="en-US" sz="1275" b="0">
              <a:solidFill>
                <a:srgbClr val="786F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200150"/>
            <a:ext cx="11163300" cy="9525"/>
          </a:xfrm>
          <a:prstGeom prst="rect">
            <a:avLst/>
          </a:prstGeom>
          <a:solidFill>
            <a:srgbClr val="D8CCB5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7335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800" b="1">
              <a:solidFill>
                <a:srgbClr val="B78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2114550"/>
            <a:ext cx="1562100" cy="1562100"/>
          </a:xfrm>
          <a:prstGeom prst="roundRect">
            <a:avLst>
              <a:gd name="adj" fmla="val 4878"/>
            </a:avLst>
          </a:prstGeom>
          <a:solidFill>
            <a:srgbClr val="F0E2CA"/>
          </a:solidFill>
          <a:ln w="19050">
            <a:solidFill>
              <a:srgbClr val="B78642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2343150"/>
            <a:ext cx="1333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lang="zh-CN" altLang="en-US" sz="12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进入3</a:t>
            </a:r>
            <a:r>
              <a:rPr lang="en-US" altLang="zh-CN" sz="12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</a:t>
            </a:r>
            <a:r>
              <a:rPr lang="zh-CN" altLang="en-US" sz="12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技艺讲解</a:t>
            </a:r>
            <a:endParaRPr lang="zh-CN" altLang="en-US" sz="1200" b="1">
              <a:solidFill>
                <a:srgbClr val="4B0A1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2981325"/>
            <a:ext cx="1333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095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➔ 进入“为 </a:t>
            </a:r>
            <a:r>
              <a:rPr lang="en-US" altLang="zh-CN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APEC </a:t>
            </a: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添彩”主题场景</a:t>
            </a:r>
            <a:endParaRPr lang="zh-CN" altLang="en-US" sz="1200" b="0">
              <a:solidFill>
                <a:srgbClr val="3C3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114550" y="2876550"/>
            <a:ext cx="285750" cy="19050"/>
          </a:xfrm>
          <a:prstGeom prst="rect">
            <a:avLst/>
          </a:prstGeom>
          <a:solidFill>
            <a:srgbClr val="B78642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400300" y="17335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800" b="1">
              <a:solidFill>
                <a:srgbClr val="B78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400300" y="2114550"/>
            <a:ext cx="15621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CCB5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514600" y="2343150"/>
            <a:ext cx="1333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lang="zh-CN" altLang="en-US" sz="12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选择浏览方式</a:t>
            </a:r>
            <a:endParaRPr lang="zh-CN" altLang="en-US" sz="1200" b="1">
              <a:solidFill>
                <a:srgbClr val="4B0A1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514600" y="2981325"/>
            <a:ext cx="1333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095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➔ 沿动线浏览、点选章节或直接开始添彩</a:t>
            </a:r>
            <a:endParaRPr lang="zh-CN" altLang="en-US" sz="1200" b="0">
              <a:solidFill>
                <a:srgbClr val="3C3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62400" y="2876550"/>
            <a:ext cx="285750" cy="19050"/>
          </a:xfrm>
          <a:prstGeom prst="rect">
            <a:avLst/>
          </a:prstGeom>
          <a:solidFill>
            <a:srgbClr val="B78642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248150" y="17335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800" b="1">
              <a:solidFill>
                <a:srgbClr val="B78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248150" y="2114550"/>
            <a:ext cx="15621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CCB5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362450" y="2343150"/>
            <a:ext cx="1333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选择纹样</a:t>
            </a:r>
            <a:endParaRPr sz="1200" b="1">
              <a:solidFill>
                <a:srgbClr val="4B0A1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362450" y="2981325"/>
            <a:ext cx="1333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095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➔ 从多种预设纹样中选择</a:t>
            </a:r>
            <a:endParaRPr lang="zh-CN" altLang="en-US" sz="1200" b="0">
              <a:solidFill>
                <a:srgbClr val="3C3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810250" y="2876550"/>
            <a:ext cx="285750" cy="19050"/>
          </a:xfrm>
          <a:prstGeom prst="rect">
            <a:avLst/>
          </a:prstGeom>
          <a:solidFill>
            <a:srgbClr val="B78642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096000" y="17335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800" b="1">
              <a:solidFill>
                <a:srgbClr val="B78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096000" y="2114550"/>
            <a:ext cx="15621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CCB5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210300" y="2343150"/>
            <a:ext cx="1333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选择配色</a:t>
            </a:r>
            <a:endParaRPr sz="1200" b="1">
              <a:solidFill>
                <a:srgbClr val="4B0A1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10300" y="2981325"/>
            <a:ext cx="1333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095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➔ 实时预览陶瓷杯效果</a:t>
            </a:r>
            <a:endParaRPr lang="zh-CN" altLang="en-US" sz="1200" b="0">
              <a:solidFill>
                <a:srgbClr val="3C3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658100" y="2876550"/>
            <a:ext cx="285750" cy="19050"/>
          </a:xfrm>
          <a:prstGeom prst="rect">
            <a:avLst/>
          </a:prstGeom>
          <a:solidFill>
            <a:srgbClr val="B78642"/>
          </a:solidFill>
          <a:ln w="0">
            <a:noFill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943850" y="17335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800" b="1">
              <a:solidFill>
                <a:srgbClr val="B78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7943850" y="2114550"/>
            <a:ext cx="1562100" cy="1562100"/>
          </a:xfrm>
          <a:prstGeom prst="roundRect">
            <a:avLst>
              <a:gd name="adj" fmla="val 4878"/>
            </a:avLst>
          </a:prstGeom>
          <a:solidFill>
            <a:srgbClr val="F0E2CA"/>
          </a:solidFill>
          <a:ln w="19050">
            <a:solidFill>
              <a:srgbClr val="B78642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058150" y="2343150"/>
            <a:ext cx="1333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作品生成</a:t>
            </a:r>
            <a:endParaRPr sz="1200" b="1">
              <a:solidFill>
                <a:srgbClr val="4B0A1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58150" y="2981325"/>
            <a:ext cx="1333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095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➔ 呈现陶瓷杯生成过程</a:t>
            </a:r>
            <a:endParaRPr lang="zh-CN" altLang="en-US" sz="1200" b="0">
              <a:solidFill>
                <a:srgbClr val="3C3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505950" y="2876550"/>
            <a:ext cx="285750" cy="19050"/>
          </a:xfrm>
          <a:prstGeom prst="rect">
            <a:avLst/>
          </a:prstGeom>
          <a:solidFill>
            <a:srgbClr val="B78642"/>
          </a:solidFill>
          <a:ln w="0">
            <a:noFill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791700" y="1733550"/>
            <a:ext cx="4381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800" b="1">
              <a:solidFill>
                <a:srgbClr val="B78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791700" y="2114550"/>
            <a:ext cx="15621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CCB5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906000" y="2343150"/>
            <a:ext cx="1333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选择创作成果</a:t>
            </a:r>
            <a:endParaRPr sz="1200" b="1">
              <a:solidFill>
                <a:srgbClr val="4B0A1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906000" y="2981325"/>
            <a:ext cx="1333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095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➔ 进入主题海报或3</a:t>
            </a:r>
            <a:r>
              <a:rPr lang="en-US" altLang="zh-CN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</a:t>
            </a:r>
            <a:endParaRPr lang="zh-CN" altLang="en-US" sz="1200" b="0">
              <a:solidFill>
                <a:srgbClr val="3C3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52450" y="41719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单次体验结构</a:t>
            </a:r>
            <a:endParaRPr sz="2400" b="1">
              <a:solidFill>
                <a:srgbClr val="4B0A1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4789805"/>
            <a:ext cx="7239000" cy="10966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73050" indent="-171450" algn="l">
              <a:lnSpc>
                <a:spcPct val="112000"/>
              </a:lnSpc>
              <a:spcAft>
                <a:spcPts val="560"/>
              </a:spcAft>
              <a:buFont typeface="Arial" panose="020B0604020202020204" pitchFamily="34" charset="0"/>
              <a:buChar char="•"/>
              <a:defRPr sz="129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</a:t>
            </a:r>
            <a:r>
              <a:rPr lang="en-US" altLang="zh-CN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H5</a:t>
            </a: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后即开启3</a:t>
            </a:r>
            <a:r>
              <a:rPr lang="en-US" altLang="zh-CN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技艺讲解，可沿动线浏览、点选章节，也可跳过讲解直接进入</a:t>
            </a:r>
            <a:r>
              <a:rPr lang="en-US" altLang="zh-CN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DIY。</a:t>
            </a:r>
            <a:endParaRPr lang="en-US" altLang="zh-CN" sz="1200" b="0">
              <a:solidFill>
                <a:srgbClr val="3C3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73050" indent="-171450" algn="l">
              <a:lnSpc>
                <a:spcPct val="112000"/>
              </a:lnSpc>
              <a:spcAft>
                <a:spcPts val="560"/>
              </a:spcAft>
              <a:buFont typeface="Arial" panose="020B0604020202020204" pitchFamily="34" charset="0"/>
              <a:buChar char="•"/>
              <a:defRPr sz="129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纹样与配色分为两步，每次选择后均可实时预览陶瓷杯整体效果。</a:t>
            </a:r>
            <a:endParaRPr lang="zh-CN" altLang="en-US" sz="1200" b="0">
              <a:solidFill>
                <a:srgbClr val="3C3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73050" indent="-171450" algn="l">
              <a:lnSpc>
                <a:spcPct val="112000"/>
              </a:lnSpc>
              <a:spcAft>
                <a:spcPts val="560"/>
              </a:spcAft>
              <a:buFont typeface="Arial" panose="020B0604020202020204" pitchFamily="34" charset="0"/>
              <a:buChar char="•"/>
              <a:defRPr sz="129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DIY</a:t>
            </a: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后，系统呈现作品生成过程，随后跳转至成果选择页。</a:t>
            </a:r>
            <a:endParaRPr lang="zh-CN" altLang="en-US" sz="1200" b="0">
              <a:solidFill>
                <a:srgbClr val="3C3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191500" y="4343400"/>
            <a:ext cx="3429000" cy="1619250"/>
          </a:xfrm>
          <a:prstGeom prst="roundRect">
            <a:avLst>
              <a:gd name="adj" fmla="val 4706"/>
            </a:avLst>
          </a:prstGeom>
          <a:solidFill>
            <a:srgbClr val="4B0A1D"/>
          </a:solidFill>
          <a:ln w="0">
            <a:solidFill>
              <a:srgbClr val="4B0A1D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439150" y="4572000"/>
            <a:ext cx="29337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D7B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D7B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核心验收</a:t>
            </a:r>
            <a:endParaRPr sz="1275" b="1">
              <a:solidFill>
                <a:srgbClr val="D7B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439150" y="5010150"/>
            <a:ext cx="29337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4000"/>
              </a:lnSpc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用户能够选择讲解方式，完成纹样与配色选择，并最终生成主题海报与3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作品。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33400" y="6505575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 APEC 添彩　永丰源广彩瓷器互动 H5　产品方案 V1.0</a:t>
            </a:r>
            <a:endParaRPr sz="800" b="0">
              <a:solidFill>
                <a:srgbClr val="786F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800" b="0">
              <a:solidFill>
                <a:srgbClr val="786F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D061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495300" y="304800"/>
            <a:ext cx="438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  <a:endParaRPr sz="120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" y="257175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29"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defRPr>
            </a:pPr>
            <a:r>
              <a:rPr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用户体验路径</a:t>
            </a:r>
            <a:endParaRPr sz="2550" b="1">
              <a:solidFill>
                <a:srgbClr val="4D061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28700" y="742950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用户先理解广彩，再完成创作，最终留下个人作品并加入公共画面</a:t>
            </a:r>
            <a:endParaRPr sz="135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1181100"/>
            <a:ext cx="11201400" cy="19050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960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 APEC 添彩  ·  永丰源广彩互动 H5 产品方案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49605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r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1790487"/>
            <a:ext cx="1790700" cy="3181775"/>
          </a:xfrm>
          <a:prstGeom prst="roundRect">
            <a:avLst>
              <a:gd name="adj" fmla="val 8511"/>
            </a:avLst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552450" y="5324475"/>
            <a:ext cx="419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3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05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528637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了解技艺</a:t>
            </a:r>
            <a:endParaRPr sz="1275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550" y="1790487"/>
            <a:ext cx="1790700" cy="3181775"/>
          </a:xfrm>
          <a:prstGeom prst="roundRect">
            <a:avLst>
              <a:gd name="adj" fmla="val 8511"/>
            </a:avLst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2876550" y="5324475"/>
            <a:ext cx="419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3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05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257550" y="528637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开始创作</a:t>
            </a:r>
            <a:endParaRPr sz="1275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50" y="1790487"/>
            <a:ext cx="1790700" cy="3181775"/>
          </a:xfrm>
          <a:prstGeom prst="roundRect">
            <a:avLst>
              <a:gd name="adj" fmla="val 8511"/>
            </a:avLst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5200650" y="5324475"/>
            <a:ext cx="419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3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05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581650" y="528637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烧制成器</a:t>
            </a:r>
            <a:endParaRPr sz="1275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0" y="1790487"/>
            <a:ext cx="1790700" cy="3181775"/>
          </a:xfrm>
          <a:prstGeom prst="roundRect">
            <a:avLst>
              <a:gd name="adj" fmla="val 8511"/>
            </a:avLst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7524750" y="5324475"/>
            <a:ext cx="419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3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05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05750" y="528637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获得成果</a:t>
            </a:r>
            <a:endParaRPr sz="1275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8850" y="1790487"/>
            <a:ext cx="1790700" cy="3181775"/>
          </a:xfrm>
          <a:prstGeom prst="roundRect">
            <a:avLst>
              <a:gd name="adj" fmla="val 8511"/>
            </a:avLst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9848850" y="5324475"/>
            <a:ext cx="419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3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105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229850" y="528637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加入共创</a:t>
            </a:r>
            <a:endParaRPr sz="1275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486150" y="5829300"/>
            <a:ext cx="5238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29"/>
          </a:bodyPr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完整浏览、点选章节或直接开始添彩</a:t>
            </a:r>
            <a:endParaRPr sz="1350" b="1">
              <a:solidFill>
                <a:srgbClr val="356F6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14350" y="40005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B78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1">
              <a:solidFill>
                <a:srgbClr val="B78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66800" y="314325"/>
            <a:ext cx="9858375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30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lang="zh-CN" altLang="en-US" sz="30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页面概念：3</a:t>
            </a:r>
            <a:r>
              <a:rPr lang="en-US" altLang="zh-CN" sz="30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</a:t>
            </a:r>
            <a:r>
              <a:rPr lang="zh-CN" altLang="en-US" sz="30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广彩技艺讲解</a:t>
            </a:r>
            <a:endParaRPr lang="zh-CN" altLang="en-US" sz="3000" b="1">
              <a:solidFill>
                <a:srgbClr val="4B0A1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5850" y="8477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</a:t>
            </a:r>
            <a:r>
              <a:rPr lang="en-US" altLang="zh-CN" sz="1200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H5</a:t>
            </a:r>
            <a:r>
              <a:rPr lang="zh-CN" altLang="en-US" sz="1200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即开启3</a:t>
            </a:r>
            <a:r>
              <a:rPr lang="en-US" altLang="zh-CN" sz="1200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1200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广彩技艺讲解，用户可沿动线浏览3</a:t>
            </a:r>
            <a:r>
              <a:rPr lang="en-US" altLang="zh-CN" sz="1200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1200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画面、点选章节或直接进入</a:t>
            </a:r>
            <a:r>
              <a:rPr lang="en-US" altLang="zh-CN" sz="1200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DIY</a:t>
            </a:r>
            <a:endParaRPr lang="en-US" altLang="zh-CN" sz="1200" b="0">
              <a:solidFill>
                <a:srgbClr val="786F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200150"/>
            <a:ext cx="11163300" cy="9525"/>
          </a:xfrm>
          <a:prstGeom prst="rect">
            <a:avLst/>
          </a:prstGeom>
          <a:solidFill>
            <a:srgbClr val="D8CCB5"/>
          </a:solidFill>
          <a:ln w="0">
            <a:noFill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1651000"/>
            <a:ext cx="6477000" cy="43180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7429500" y="16002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首屏状态</a:t>
            </a:r>
            <a:endParaRPr sz="1800" b="1">
              <a:solidFill>
                <a:srgbClr val="4B0A1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0" y="2038350"/>
            <a:ext cx="3810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315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白瓷杯与主题文字构成首屏，首先呈现“为 </a:t>
            </a:r>
            <a:r>
              <a:rPr lang="en-US" altLang="zh-CN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APEC </a:t>
            </a: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添彩”，随后自动进入3</a:t>
            </a:r>
            <a:r>
              <a:rPr lang="en-US" altLang="zh-CN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广彩工艺讲解。</a:t>
            </a:r>
            <a:endParaRPr lang="zh-CN" altLang="en-US" sz="1200" b="0">
              <a:solidFill>
                <a:srgbClr val="3C3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0" y="2990850"/>
            <a:ext cx="3810000" cy="9525"/>
          </a:xfrm>
          <a:prstGeom prst="rect">
            <a:avLst/>
          </a:prstGeom>
          <a:solidFill>
            <a:srgbClr val="D8CCB5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0" y="379095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1">
                <a:solidFill>
                  <a:srgbClr val="4B0A1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三种浏览方式</a:t>
            </a:r>
            <a:endParaRPr sz="1800" b="1">
              <a:solidFill>
                <a:srgbClr val="4B0A1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29500" y="4171950"/>
            <a:ext cx="38100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73050" indent="-171450" algn="l">
              <a:lnSpc>
                <a:spcPct val="112000"/>
              </a:lnSpc>
              <a:spcAft>
                <a:spcPts val="430"/>
              </a:spcAft>
              <a:buFont typeface="Arial" panose="020B0604020202020204" pitchFamily="34" charset="0"/>
              <a:buChar char="•"/>
              <a:defRPr sz="126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沿动线浏览：按既定顺序浏览完整3</a:t>
            </a:r>
            <a:r>
              <a:rPr lang="en-US" altLang="zh-CN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讲解</a:t>
            </a:r>
            <a:endParaRPr lang="en-US" altLang="zh-CN" sz="1200" b="0">
              <a:solidFill>
                <a:srgbClr val="3C3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73050" indent="-171450" algn="l">
              <a:lnSpc>
                <a:spcPct val="112000"/>
              </a:lnSpc>
              <a:spcAft>
                <a:spcPts val="430"/>
              </a:spcAft>
              <a:buFont typeface="Arial" panose="020B0604020202020204" pitchFamily="34" charset="0"/>
              <a:buChar char="•"/>
              <a:defRPr sz="126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点选章节：直接进入对应工艺的3</a:t>
            </a:r>
            <a:r>
              <a:rPr lang="en-US" altLang="zh-CN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讲解</a:t>
            </a:r>
            <a:endParaRPr lang="en-US" altLang="zh-CN" sz="1200" b="0">
              <a:solidFill>
                <a:srgbClr val="3C3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73050" indent="-171450" algn="l">
              <a:lnSpc>
                <a:spcPct val="112000"/>
              </a:lnSpc>
              <a:spcAft>
                <a:spcPts val="430"/>
              </a:spcAft>
              <a:buFont typeface="Arial" panose="020B0604020202020204" pitchFamily="34" charset="0"/>
              <a:buChar char="•"/>
              <a:defRPr sz="126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开始添彩：跳过3</a:t>
            </a:r>
            <a:r>
              <a:rPr lang="en-US" altLang="zh-CN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讲解并进入陶瓷杯</a:t>
            </a:r>
            <a:r>
              <a:rPr lang="en-US" altLang="zh-CN" sz="1200" b="0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DIY</a:t>
            </a:r>
            <a:endParaRPr lang="en-US" altLang="zh-CN" sz="1200" b="0">
              <a:solidFill>
                <a:srgbClr val="3C3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0" y="533400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2F6A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6A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核心控件</a:t>
            </a:r>
            <a:endParaRPr sz="1200" b="1">
              <a:solidFill>
                <a:srgbClr val="2F6A5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0" y="5638800"/>
            <a:ext cx="3810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40" b="1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1">
                <a:solidFill>
                  <a:srgbClr val="3C3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章节导航、当前章节与进度、跳过讲解、开始添彩</a:t>
            </a:r>
            <a:endParaRPr lang="zh-CN" altLang="en-US" sz="1200" b="1">
              <a:solidFill>
                <a:srgbClr val="3C3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410450" y="5981700"/>
            <a:ext cx="3905250" cy="323850"/>
          </a:xfrm>
          <a:prstGeom prst="roundRect">
            <a:avLst>
              <a:gd name="adj" fmla="val 23529"/>
            </a:avLst>
          </a:prstGeom>
          <a:solidFill>
            <a:srgbClr val="EFE9DD"/>
          </a:solidFill>
          <a:ln w="9525">
            <a:solidFill>
              <a:srgbClr val="D8CCB5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543800" y="6048375"/>
            <a:ext cx="36385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0000"/>
          </a:bodyPr>
          <a:lstStyle/>
          <a:p>
            <a:pPr algn="ctr">
              <a:lnSpc>
                <a:spcPct val="112000"/>
              </a:lnSpc>
              <a:buNone/>
              <a:defRPr sz="960" b="1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960" b="1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概念图用于说明交互状态。正式制作使用最终杯型、章节名称和高保真控件。</a:t>
            </a:r>
            <a:endParaRPr lang="zh-CN" altLang="en-US" sz="960" b="1">
              <a:solidFill>
                <a:srgbClr val="786F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3400" y="6505575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 APEC 添彩　永丰源广彩瓷器互动 H5　产品方案 V1.0</a:t>
            </a:r>
            <a:endParaRPr sz="800" b="0">
              <a:solidFill>
                <a:srgbClr val="786F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182350" y="6505575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0">
                <a:solidFill>
                  <a:srgbClr val="786F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800" b="0">
              <a:solidFill>
                <a:srgbClr val="786F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D061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495300" y="304800"/>
            <a:ext cx="438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13</a:t>
            </a:r>
            <a:endParaRPr sz="120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" y="257175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29"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defRPr>
            </a:pPr>
            <a:r>
              <a:rPr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核心页面与 3D 能力</a:t>
            </a:r>
            <a:endParaRPr sz="2550" b="1">
              <a:solidFill>
                <a:srgbClr val="4D061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28700" y="742950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概念视觉覆盖讲解、创作、作品与公共共创四个阶段</a:t>
            </a:r>
            <a:endParaRPr sz="135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1181100"/>
            <a:ext cx="11201400" cy="19050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960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 APEC 添彩  ·  永丰源广彩互动 H5 产品方案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49605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r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13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315734"/>
            <a:ext cx="1333500" cy="2369407"/>
          </a:xfrm>
          <a:prstGeom prst="roundRect">
            <a:avLst>
              <a:gd name="adj" fmla="val 10000"/>
            </a:avLst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533400" y="556260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38"/>
          </a:bodyPr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技艺讲解</a:t>
            </a:r>
            <a:endParaRPr sz="1050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316443"/>
            <a:ext cx="1333500" cy="2367990"/>
          </a:xfrm>
          <a:prstGeom prst="roundRect">
            <a:avLst>
              <a:gd name="adj" fmla="val 10000"/>
            </a:avLst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2057400" y="556260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38"/>
          </a:bodyPr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创作预览</a:t>
            </a:r>
            <a:endParaRPr sz="1050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316443"/>
            <a:ext cx="1333500" cy="2367990"/>
          </a:xfrm>
          <a:prstGeom prst="roundRect">
            <a:avLst>
              <a:gd name="adj" fmla="val 10000"/>
            </a:avLst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3581400" y="556260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38"/>
          </a:bodyPr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作品生成</a:t>
            </a:r>
            <a:endParaRPr sz="1050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2315734"/>
            <a:ext cx="1333500" cy="2369407"/>
          </a:xfrm>
          <a:prstGeom prst="roundRect">
            <a:avLst>
              <a:gd name="adj" fmla="val 10000"/>
            </a:avLst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5105400" y="556260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38"/>
          </a:bodyPr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公共共创</a:t>
            </a:r>
            <a:endParaRPr sz="1050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39000" y="16192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31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状态切换</a:t>
            </a:r>
            <a:endParaRPr sz="1425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667750" y="158115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20000"/>
              </a:lnSpc>
              <a:buNone/>
              <a:def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同一器型呈现线稿、色彩、金彩与边饰变化</a:t>
            </a:r>
            <a:endParaRPr sz="1200" b="0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39000" y="2400300"/>
            <a:ext cx="4286250" cy="9525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239000" y="26098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31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实时查看</a:t>
            </a:r>
            <a:endParaRPr sz="1425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67750" y="257175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20000"/>
              </a:lnSpc>
              <a:buNone/>
              <a:def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支持旋转、缩放与器物细节查看</a:t>
            </a:r>
            <a:endParaRPr sz="1200" b="0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239000" y="3390900"/>
            <a:ext cx="4286250" cy="9525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239000" y="36004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31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配置一致</a:t>
            </a:r>
            <a:endParaRPr sz="1425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667750" y="356235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20000"/>
              </a:lnSpc>
              <a:buNone/>
              <a:def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用户选择在海报与 3D 作品中保持一致</a:t>
            </a:r>
            <a:endParaRPr sz="1200" b="0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239000" y="4381500"/>
            <a:ext cx="4286250" cy="9525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239000" y="45910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31"/>
          </a:bodyPr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性能适配</a:t>
            </a:r>
            <a:endParaRPr sz="1425" b="1">
              <a:solidFill>
                <a:srgbClr val="356F6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667750" y="455295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20000"/>
              </a:lnSpc>
              <a:buNone/>
              <a:def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按目标设备加载模型、贴图与动效精度</a:t>
            </a:r>
            <a:endParaRPr sz="1200" b="0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191375" y="5572125"/>
            <a:ext cx="4333875" cy="552450"/>
          </a:xfrm>
          <a:prstGeom prst="roundRect">
            <a:avLst>
              <a:gd name="adj" fmla="val 13793"/>
            </a:avLst>
          </a:prstGeom>
          <a:solidFill>
            <a:srgbClr val="F5E5DE"/>
          </a:solidFill>
          <a:ln w="0">
            <a:noFill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334250" y="5667375"/>
            <a:ext cx="40481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B84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B84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概念效果图不等于已完成的实时 3D 能力</a:t>
            </a:r>
            <a:endParaRPr sz="1125" b="1">
              <a:solidFill>
                <a:srgbClr val="B84E3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D061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495300" y="304800"/>
            <a:ext cx="438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20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" y="257175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29"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defRPr>
            </a:pPr>
            <a:r>
              <a:rPr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3D 呈现与互动价值</a:t>
            </a:r>
            <a:endParaRPr sz="2550" b="1">
              <a:solidFill>
                <a:srgbClr val="4D061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28700" y="742950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同一套 3D 器物贯穿技艺讲解、创作预览和作品查看</a:t>
            </a:r>
            <a:endParaRPr sz="135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1181100"/>
            <a:ext cx="11201400" cy="19050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960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 APEC 添彩  ·  永丰源广彩互动 H5 产品方案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49605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r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845001"/>
            <a:ext cx="1809750" cy="3215624"/>
          </a:xfrm>
          <a:prstGeom prst="roundRect">
            <a:avLst>
              <a:gd name="adj" fmla="val 9474"/>
            </a:avLst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609600" y="54768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91"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3D 动画讲解</a:t>
            </a:r>
            <a:endParaRPr sz="1200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845001"/>
            <a:ext cx="1809750" cy="3215624"/>
          </a:xfrm>
          <a:prstGeom prst="roundRect">
            <a:avLst>
              <a:gd name="adj" fmla="val 9474"/>
            </a:avLst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2895600" y="54768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91"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实时创作预览</a:t>
            </a:r>
            <a:endParaRPr sz="1200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845001"/>
            <a:ext cx="1809750" cy="3215624"/>
          </a:xfrm>
          <a:prstGeom prst="roundRect">
            <a:avLst>
              <a:gd name="adj" fmla="val 9474"/>
            </a:avLst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5181600" y="54768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91"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3D 数字作品</a:t>
            </a:r>
            <a:endParaRPr sz="1200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67625" y="15621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59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讲清广彩</a:t>
            </a:r>
            <a:endParaRPr sz="150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096375" y="1543050"/>
            <a:ext cx="2552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器物转动、局部特写与状态切换，让线、色、金的变化更清楚。</a:t>
            </a:r>
            <a:endParaRPr sz="1200" b="0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667625" y="2352675"/>
            <a:ext cx="3981450" cy="9525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667625" y="2562225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59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即时预览</a:t>
            </a:r>
            <a:endParaRPr sz="150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096375" y="2543175"/>
            <a:ext cx="2552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用户每次选择都映射到杯器，降低平面选项与成品效果的理解落差。</a:t>
            </a:r>
            <a:endParaRPr sz="1200" b="0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67625" y="3352800"/>
            <a:ext cx="3981450" cy="9525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667625" y="35623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59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形成作品</a:t>
            </a:r>
            <a:endParaRPr sz="150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096375" y="3543300"/>
            <a:ext cx="2552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创作结果继续生成可旋转、缩放和查看细节的数字作品。</a:t>
            </a:r>
            <a:endParaRPr sz="1200" b="0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667625" y="4352925"/>
            <a:ext cx="3981450" cy="9525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667625" y="4562475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59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沉淀资产</a:t>
            </a:r>
            <a:endParaRPr sz="1500" b="1">
              <a:solidFill>
                <a:srgbClr val="356F6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096375" y="4543425"/>
            <a:ext cx="2552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经确认的器型、纹样与材质可沉淀为可扩展的数字器物资产。</a:t>
            </a:r>
            <a:endParaRPr sz="1200" b="0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620000" y="5619750"/>
            <a:ext cx="4048125" cy="523875"/>
          </a:xfrm>
          <a:prstGeom prst="roundRect">
            <a:avLst>
              <a:gd name="adj" fmla="val 14545"/>
            </a:avLst>
          </a:prstGeom>
          <a:solidFill>
            <a:srgbClr val="4D061B"/>
          </a:solidFill>
          <a:ln w="0">
            <a:noFill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791450" y="5715000"/>
            <a:ext cx="37052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纹饰之美  ·  意境之美  ·  器用之美</a:t>
            </a:r>
            <a:endParaRPr sz="1275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D061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495300" y="304800"/>
            <a:ext cx="438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08</a:t>
            </a:r>
            <a:endParaRPr sz="120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" y="257175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29"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defRPr>
            </a:pPr>
            <a:r>
              <a:rPr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五步数字广彩创作</a:t>
            </a:r>
            <a:endParaRPr sz="2550" b="1">
              <a:solidFill>
                <a:srgbClr val="4D061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28700" y="742950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用户在品牌审核的素材范围内完成选择，实时查看杯器变化</a:t>
            </a:r>
            <a:endParaRPr sz="135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1181100"/>
            <a:ext cx="11201400" cy="19050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960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 APEC 添彩  ·  永丰源广彩互动 H5 产品方案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49605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r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08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719050"/>
            <a:ext cx="1790700" cy="3181775"/>
          </a:xfrm>
          <a:prstGeom prst="roundRect">
            <a:avLst>
              <a:gd name="adj" fmla="val 8511"/>
            </a:avLst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600075" y="5257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</a:t>
            </a:r>
            <a:endParaRPr sz="1125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5219700"/>
            <a:ext cx="14097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82"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描线</a:t>
            </a:r>
            <a:endParaRPr sz="1275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5581650"/>
            <a:ext cx="17907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62"/>
          </a:bodyPr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开放</a:t>
            </a:r>
            <a:endParaRPr sz="1050" b="1">
              <a:solidFill>
                <a:srgbClr val="356F6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719050"/>
            <a:ext cx="1790700" cy="3181775"/>
          </a:xfrm>
          <a:prstGeom prst="roundRect">
            <a:avLst>
              <a:gd name="adj" fmla="val 8511"/>
            </a:avLst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2924175" y="5257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</a:t>
            </a:r>
            <a:endParaRPr sz="1125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38500" y="5219700"/>
            <a:ext cx="14097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82"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填色</a:t>
            </a:r>
            <a:endParaRPr sz="1275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857500" y="5581650"/>
            <a:ext cx="17907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62"/>
          </a:bodyPr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合作</a:t>
            </a:r>
            <a:endParaRPr sz="1050" b="1">
              <a:solidFill>
                <a:srgbClr val="356F6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719050"/>
            <a:ext cx="1790700" cy="3181775"/>
          </a:xfrm>
          <a:prstGeom prst="roundRect">
            <a:avLst>
              <a:gd name="adj" fmla="val 8511"/>
            </a:avLst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5248275" y="5257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</a:t>
            </a:r>
            <a:endParaRPr sz="1125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562600" y="5219700"/>
            <a:ext cx="14097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82"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织金</a:t>
            </a:r>
            <a:endParaRPr sz="1275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181600" y="5581650"/>
            <a:ext cx="17907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62"/>
          </a:bodyPr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创新</a:t>
            </a:r>
            <a:endParaRPr sz="1050" b="1">
              <a:solidFill>
                <a:srgbClr val="356F6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700" y="1719050"/>
            <a:ext cx="1790700" cy="3181775"/>
          </a:xfrm>
          <a:prstGeom prst="roundRect">
            <a:avLst>
              <a:gd name="adj" fmla="val 8511"/>
            </a:avLst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7572375" y="5257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</a:t>
            </a:r>
            <a:endParaRPr sz="1125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86700" y="5219700"/>
            <a:ext cx="14097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82"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封边斗彩</a:t>
            </a:r>
            <a:endParaRPr sz="1275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505700" y="5581650"/>
            <a:ext cx="17907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62"/>
          </a:bodyPr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B84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B84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共同繁荣</a:t>
            </a:r>
            <a:endParaRPr sz="1050" b="1">
              <a:solidFill>
                <a:srgbClr val="B84E3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1719050"/>
            <a:ext cx="1790700" cy="3181775"/>
          </a:xfrm>
          <a:prstGeom prst="roundRect">
            <a:avLst>
              <a:gd name="adj" fmla="val 8511"/>
            </a:avLst>
          </a:prstGeom>
        </p:spPr>
      </p:pic>
      <p:sp>
        <p:nvSpPr>
          <p:cNvPr id="25" name="矩形 24"/>
          <p:cNvSpPr>
            <a:spLocks noGrp="1"/>
          </p:cNvSpPr>
          <p:nvPr/>
        </p:nvSpPr>
        <p:spPr>
          <a:xfrm>
            <a:off x="9896475" y="5257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</a:t>
            </a:r>
            <a:endParaRPr sz="1125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210800" y="5219700"/>
            <a:ext cx="14097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82"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烧制成器</a:t>
            </a:r>
            <a:endParaRPr sz="1275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829800" y="5581650"/>
            <a:ext cx="17907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62"/>
          </a:bodyPr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成果呈现</a:t>
            </a:r>
            <a:endParaRPr sz="1050" b="1">
              <a:solidFill>
                <a:srgbClr val="356F6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333500" y="601980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38"/>
          </a:bodyPr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B84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B84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互动化步骤不等同于完整复现真实生产工艺，名称与顺序需由永丰源工艺人员审核</a:t>
            </a:r>
            <a:endParaRPr sz="1050" b="1">
              <a:solidFill>
                <a:srgbClr val="B84E3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D061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495300" y="304800"/>
            <a:ext cx="438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</a:t>
            </a:r>
            <a:endParaRPr sz="120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" y="257175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29"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defRPr>
            </a:pPr>
            <a:r>
              <a:rPr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作品生成与个人成果</a:t>
            </a:r>
            <a:endParaRPr sz="2550" b="1">
              <a:solidFill>
                <a:srgbClr val="4D061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28700" y="742950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同一次创作形成主题海报和可查看细节的 3D 数字作品</a:t>
            </a:r>
            <a:endParaRPr sz="135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1181100"/>
            <a:ext cx="11201400" cy="19050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960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 APEC 添彩  ·  永丰源广彩互动 H5 产品方案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49605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r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303" y="1476375"/>
            <a:ext cx="2521018" cy="4476750"/>
          </a:xfrm>
          <a:prstGeom prst="roundRect">
            <a:avLst>
              <a:gd name="adj" fmla="val 8302"/>
            </a:avLst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553" y="1476375"/>
            <a:ext cx="2521018" cy="4476750"/>
          </a:xfrm>
          <a:prstGeom prst="roundRect">
            <a:avLst>
              <a:gd name="adj" fmla="val 8302"/>
            </a:avLst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524000" y="5905500"/>
            <a:ext cx="2333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主题海报</a:t>
            </a:r>
            <a:endParaRPr sz="1275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67250" y="5905500"/>
            <a:ext cx="2333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3D 数字作品</a:t>
            </a:r>
            <a:endParaRPr sz="1275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67625" y="1714500"/>
            <a:ext cx="3524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defRPr>
            </a:pPr>
            <a:r>
              <a:rPr sz="2175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一器一彩，共绘亚太新图景</a:t>
            </a:r>
            <a:endParaRPr sz="2175" b="1">
              <a:solidFill>
                <a:srgbClr val="4D061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67625" y="26384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126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主题海报</a:t>
            </a:r>
            <a:endParaRPr sz="135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67625" y="2952750"/>
            <a:ext cx="3429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展示作品主视觉、纹样、配色和作品编号，支持保存与分享。</a:t>
            </a:r>
            <a:endParaRPr sz="1275" b="0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67625" y="39433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126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3D 数字作品</a:t>
            </a:r>
            <a:endParaRPr sz="1350" b="1">
              <a:solidFill>
                <a:srgbClr val="356F6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667625" y="4267200"/>
            <a:ext cx="3429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支持旋转、缩放与细节查看，并保留本次创作的纹样和色彩配置。</a:t>
            </a:r>
            <a:endParaRPr sz="1275" b="0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667625" y="5257800"/>
            <a:ext cx="3429000" cy="590550"/>
          </a:xfrm>
          <a:prstGeom prst="roundRect">
            <a:avLst>
              <a:gd name="adj" fmla="val 12903"/>
            </a:avLst>
          </a:prstGeom>
          <a:solidFill>
            <a:srgbClr val="4D061B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29550" y="5353050"/>
            <a:ext cx="31051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邀你一起创作，为 APEC 添彩</a:t>
            </a:r>
            <a:endParaRPr sz="12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D061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495300" y="304800"/>
            <a:ext cx="438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12</a:t>
            </a:r>
            <a:endParaRPr sz="120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" y="257175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29"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defRPr>
            </a:pPr>
            <a:r>
              <a:rPr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分享与共彩贡献</a:t>
            </a:r>
            <a:endParaRPr sz="2550" b="1">
              <a:solidFill>
                <a:srgbClr val="4D061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28700" y="742950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分享负责邀请，有效新增作品形成贡献</a:t>
            </a:r>
            <a:endParaRPr sz="135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1181100"/>
            <a:ext cx="11201400" cy="19050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960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 APEC 添彩  ·  永丰源广彩互动 H5 产品方案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49605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r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12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38399"/>
            <a:ext cx="2476500" cy="4400327"/>
          </a:xfrm>
          <a:prstGeom prst="roundRect">
            <a:avLst>
              <a:gd name="adj" fmla="val 7692"/>
            </a:avLst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38399"/>
            <a:ext cx="2476500" cy="4400327"/>
          </a:xfrm>
          <a:prstGeom prst="roundRect">
            <a:avLst>
              <a:gd name="adj" fmla="val 7692"/>
            </a:avLst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6572250" y="1600200"/>
            <a:ext cx="1190625" cy="323850"/>
          </a:xfrm>
          <a:prstGeom prst="roundRect">
            <a:avLst>
              <a:gd name="adj" fmla="val 23529"/>
            </a:avLst>
          </a:prstGeom>
          <a:solidFill>
            <a:srgbClr val="BD8532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48450" y="1609725"/>
            <a:ext cx="103822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分享文案</a:t>
            </a:r>
            <a:endParaRPr sz="1125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72250" y="2038350"/>
            <a:ext cx="433387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956"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defRPr>
            </a:pPr>
            <a:r>
              <a:rPr sz="2175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邀你一起创作，</a:t>
            </a:r>
            <a:endParaRPr sz="2175" b="1">
              <a:solidFill>
                <a:srgbClr val="4D061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 algn="l">
              <a:lnSpc>
                <a:spcPct val="115000"/>
              </a:lnSpc>
              <a:buNone/>
              <a:defRPr sz="2175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defRPr>
            </a:pPr>
            <a:r>
              <a:rPr sz="2175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为 APEC 添彩</a:t>
            </a:r>
            <a:endParaRPr sz="2175" b="1">
              <a:solidFill>
                <a:srgbClr val="4D061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572250" y="3048000"/>
            <a:ext cx="1190625" cy="323850"/>
          </a:xfrm>
          <a:prstGeom prst="roundRect">
            <a:avLst>
              <a:gd name="adj" fmla="val 23529"/>
            </a:avLst>
          </a:prstGeom>
          <a:solidFill>
            <a:srgbClr val="356F62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648450" y="3057525"/>
            <a:ext cx="103822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好友按钮</a:t>
            </a:r>
            <a:endParaRPr sz="1125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72250" y="345757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我要添彩</a:t>
            </a:r>
            <a:endParaRPr sz="2025" b="1">
              <a:solidFill>
                <a:srgbClr val="356F6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72250" y="4171950"/>
            <a:ext cx="4572000" cy="19050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572250" y="44577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126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计分原则</a:t>
            </a:r>
            <a:endParaRPr sz="135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572250" y="4791075"/>
            <a:ext cx="4524375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分享行为本身不计分。好友完成作品并加入公共共创画面后，形成一次有效贡献。</a:t>
            </a:r>
            <a:endParaRPr sz="1275" b="0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72250" y="5676900"/>
            <a:ext cx="452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B84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B84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前三名瓷器礼赠属于活动建议，规则与奖品待永丰源确认</a:t>
            </a:r>
            <a:endParaRPr sz="1050" b="1">
              <a:solidFill>
                <a:srgbClr val="B84E3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D061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495300" y="304800"/>
            <a:ext cx="438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BD8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09</a:t>
            </a:r>
            <a:endParaRPr sz="1200" b="1">
              <a:solidFill>
                <a:srgbClr val="BD8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" y="257175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29"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defRPr>
            </a:pPr>
            <a:r>
              <a:rPr sz="2550" b="1">
                <a:solidFill>
                  <a:srgbClr val="4D061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创作内容体系</a:t>
            </a:r>
            <a:endParaRPr sz="2550" b="1">
              <a:solidFill>
                <a:srgbClr val="4D061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28700" y="742950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固定器型与审核素材保证品质，组合选择形成不同的数字作品</a:t>
            </a:r>
            <a:endParaRPr sz="135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1181100"/>
            <a:ext cx="11201400" cy="19050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960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 APEC 添彩  ·  永丰源广彩互动 H5 产品方案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49605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r">
              <a:lnSpc>
                <a:spcPct val="115000"/>
              </a:lnSpc>
              <a:buNone/>
              <a:def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6E69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09</a:t>
            </a:r>
            <a:endParaRPr sz="900" b="0">
              <a:solidFill>
                <a:srgbClr val="6E69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2100624"/>
            <a:ext cx="2524125" cy="2894876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292" y="1809750"/>
            <a:ext cx="1956641" cy="3476625"/>
          </a:xfrm>
          <a:prstGeom prst="roundRect">
            <a:avLst>
              <a:gd name="adj" fmla="val 6792"/>
            </a:avLst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50" y="2171458"/>
            <a:ext cx="2524125" cy="2753209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904875" y="5362575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统一器型</a:t>
            </a:r>
            <a:endParaRPr sz="1275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571875" y="5362575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品牌审核素材</a:t>
            </a:r>
            <a:endParaRPr sz="1275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91250" y="5362575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56"/>
          </a:bodyPr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4D06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实时组合预览</a:t>
            </a:r>
            <a:endParaRPr sz="1275" b="1">
              <a:solidFill>
                <a:srgbClr val="4D061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9029700" y="1619250"/>
            <a:ext cx="1333500" cy="323850"/>
          </a:xfrm>
          <a:prstGeom prst="roundRect">
            <a:avLst>
              <a:gd name="adj" fmla="val 23529"/>
            </a:avLst>
          </a:prstGeom>
          <a:solidFill>
            <a:srgbClr val="BD8532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105900" y="1628775"/>
            <a:ext cx="11811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可配置内容</a:t>
            </a:r>
            <a:endParaRPr sz="1125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48750" y="2143125"/>
            <a:ext cx="857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29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纹样</a:t>
            </a:r>
            <a:endParaRPr sz="1350" b="1">
              <a:solidFill>
                <a:srgbClr val="356F6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906000" y="2124075"/>
            <a:ext cx="17621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线稿、元素名称与适用区域</a:t>
            </a:r>
            <a:endParaRPr sz="1125" b="0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048750" y="2762250"/>
            <a:ext cx="2571750" cy="9525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048750" y="2943225"/>
            <a:ext cx="857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29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色彩</a:t>
            </a:r>
            <a:endParaRPr sz="1350" b="1">
              <a:solidFill>
                <a:srgbClr val="356F6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906000" y="2924175"/>
            <a:ext cx="17621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采用广彩常用色建立预设色板</a:t>
            </a:r>
            <a:endParaRPr sz="1125" b="0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048750" y="3562350"/>
            <a:ext cx="2571750" cy="9525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048750" y="3743325"/>
            <a:ext cx="857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29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金彩</a:t>
            </a:r>
            <a:endParaRPr sz="1350" b="1">
              <a:solidFill>
                <a:srgbClr val="356F6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906000" y="3724275"/>
            <a:ext cx="17621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金线、填金与点缀方案</a:t>
            </a:r>
            <a:endParaRPr sz="1125" b="0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048750" y="4362450"/>
            <a:ext cx="2571750" cy="9525"/>
          </a:xfrm>
          <a:prstGeom prst="rect">
            <a:avLst/>
          </a:prstGeom>
          <a:solidFill>
            <a:srgbClr val="D9CDB4"/>
          </a:solidFill>
          <a:ln w="0">
            <a:noFill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048750" y="4543425"/>
            <a:ext cx="857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29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56F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边饰</a:t>
            </a:r>
            <a:endParaRPr sz="1350" b="1">
              <a:solidFill>
                <a:srgbClr val="356F6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06000" y="4524375"/>
            <a:ext cx="17621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0">
                <a:solidFill>
                  <a:srgbClr val="2A24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杯身、杯盖、杯把与托盘联动</a:t>
            </a:r>
            <a:endParaRPr sz="1125" b="0">
              <a:solidFill>
                <a:srgbClr val="2A242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839200" y="5600700"/>
            <a:ext cx="300037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B84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B84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正式器型与素材以永丰源最终确认资料为准</a:t>
            </a:r>
            <a:endParaRPr sz="1050" b="1">
              <a:solidFill>
                <a:srgbClr val="B84E3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ags/tag2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ags/tag3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ags/tag4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ags/tag5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ags/tag6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ags/tag7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ags/tag8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ags/tag9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ags/tag10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ags/tag11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ags/tag12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ags/tag13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ags/tag14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ags/tag15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ags/tag16.xml><?xml version="1.0" encoding="utf-8"?>
<p:tagLst xmlns:p="http://schemas.openxmlformats.org/presentationml/2006/main">
  <p:tag name="KSO_WM_DIAGRAM_VIRTUALLY_FRAME" val="{&quot;height&quot;:115.5,&quot;left&quot;:75.1,&quot;top&quot;:277.5,&quot;width&quot;:763.4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2050</Words>
  <Application>WPS 演示</Application>
  <PresentationFormat>Converted Presentation</PresentationFormat>
  <Paragraphs>368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Noto Sans SC</vt:lpstr>
      <vt:lpstr>Noto Serif SC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月明</cp:lastModifiedBy>
  <cp:revision>4</cp:revision>
  <dcterms:created xsi:type="dcterms:W3CDTF">2026-09-22T08:44:00Z</dcterms:created>
  <dcterms:modified xsi:type="dcterms:W3CDTF">2026-09-22T15:23:11Z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F317559CD8F34E53B0AE6ED1E942A4EE_12</vt:lpwstr>
  </property>
</Properties>
</file>