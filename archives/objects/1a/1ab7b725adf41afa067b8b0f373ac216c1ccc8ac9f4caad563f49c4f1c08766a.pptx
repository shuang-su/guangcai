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7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37744"/>
            <a:ext cx="9144000" cy="2743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B78648"/>
                </a:solidFill>
                <a:latin typeface="Noto Sans CJK SC"/>
              </a:defRPr>
            </a:pPr>
            <a:r>
              <a:t>敢为天下彩  /  预热H5创意提案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972800" cy="5943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52E4A"/>
                </a:solidFill>
                <a:latin typeface="Noto Sans CJK SC"/>
              </a:defRPr>
            </a:pPr>
            <a:r>
              <a:t>为A会添一点彩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298448"/>
            <a:ext cx="10972800" cy="54864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697584"/>
                </a:solidFill>
                <a:latin typeface="Noto Sans CJK SC"/>
              </a:defRPr>
            </a:pPr>
            <a:r>
              <a:t>一人一点彩，汇聚万千精彩 · 纯线上互动传播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37960"/>
            <a:ext cx="11064240" cy="13716"/>
          </a:xfrm>
          <a:prstGeom prst="rect">
            <a:avLst/>
          </a:prstGeom>
          <a:solidFill>
            <a:srgbClr val="D8D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7" y="6583680"/>
            <a:ext cx="10058400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97584"/>
                </a:solidFill>
                <a:latin typeface="Noto Sans CJK SC"/>
              </a:defRPr>
            </a:pPr>
            <a:r>
              <a:t>敢为天下彩  ·  为A会添一点彩  /  线上预热H5创意提案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65392"/>
            <a:ext cx="365760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B78648"/>
                </a:solidFill>
                <a:latin typeface="Noto Sans CJK SC"/>
              </a:defRPr>
            </a:pPr>
            <a:r>
              <a:t>01</a:t>
            </a:r>
          </a:p>
        </p:txBody>
      </p:sp>
      <p:pic>
        <p:nvPicPr>
          <p:cNvPr id="10" name="Picture 9" descr="h5_mock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508760"/>
            <a:ext cx="2788920" cy="4892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2011680"/>
            <a:ext cx="6400800" cy="146304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52E4A"/>
                </a:solidFill>
                <a:latin typeface="Noto Sans CJK SC"/>
              </a:defRPr>
            </a:pPr>
            <a:r>
              <a:t>70% 公共文化传播</a:t>
            </a:r>
          </a:p>
          <a:p>
            <a:pPr>
              <a:spcAft>
                <a:spcPts val="900"/>
              </a:spcAft>
              <a:defRPr sz="2700" b="1">
                <a:solidFill>
                  <a:srgbClr val="152E4A"/>
                </a:solidFill>
                <a:latin typeface="Noto Sans CJK SC"/>
              </a:defRPr>
            </a:pPr>
            <a:r>
              <a:t>30% 品牌商品引流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77639"/>
            <a:ext cx="6400800" cy="10972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697584"/>
                </a:solidFill>
                <a:latin typeface="Noto Sans CJK SC"/>
              </a:defRPr>
            </a:pPr>
            <a:r>
              <a:t>五色共彩 · 数字广彩 · 专属添彩卡</a:t>
            </a:r>
          </a:p>
          <a:p>
            <a:pPr>
              <a:spcAft>
                <a:spcPts val="900"/>
              </a:spcAft>
              <a:defRPr sz="1700" b="0">
                <a:solidFill>
                  <a:srgbClr val="697584"/>
                </a:solidFill>
                <a:latin typeface="Noto Sans CJK SC"/>
              </a:defRPr>
            </a:pPr>
            <a:r>
              <a:t>一款「添彩杯」 · 统一活动专属包装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7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37744"/>
            <a:ext cx="9144000" cy="2743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B78648"/>
                </a:solidFill>
                <a:latin typeface="Noto Sans CJK SC"/>
              </a:defRPr>
            </a:pPr>
            <a:r>
              <a:t>01 /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972800" cy="5943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52E4A"/>
                </a:solidFill>
                <a:latin typeface="Noto Sans CJK SC"/>
              </a:defRPr>
            </a:pPr>
            <a:r>
              <a:t>项目定位与明确边界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298448"/>
            <a:ext cx="10972800" cy="54864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697584"/>
                </a:solidFill>
                <a:latin typeface="Noto Sans CJK SC"/>
              </a:defRPr>
            </a:pPr>
            <a:r>
              <a:t>公众先参与文化互动，品牌以一杯中国彩自然承接。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37960"/>
            <a:ext cx="11064240" cy="13716"/>
          </a:xfrm>
          <a:prstGeom prst="rect">
            <a:avLst/>
          </a:prstGeom>
          <a:solidFill>
            <a:srgbClr val="D8D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7" y="6583680"/>
            <a:ext cx="10058400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97584"/>
                </a:solidFill>
                <a:latin typeface="Noto Sans CJK SC"/>
              </a:defRPr>
            </a:pPr>
            <a:r>
              <a:t>敢为天下彩  ·  为A会添一点彩  /  线上预热H5创意提案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65392"/>
            <a:ext cx="365760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B78648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28800"/>
            <a:ext cx="539496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828800"/>
            <a:ext cx="50292" cy="1737360"/>
          </a:xfrm>
          <a:prstGeom prst="rect">
            <a:avLst/>
          </a:prstGeom>
          <a:solidFill>
            <a:srgbClr val="367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5029200" cy="4572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52E4A"/>
                </a:solidFill>
                <a:latin typeface="Noto Sans CJK SC"/>
              </a:defRPr>
            </a:pPr>
            <a:r>
              <a:t>70%｜公共传播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542032"/>
            <a:ext cx="4983480" cy="1005839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697584"/>
                </a:solidFill>
                <a:latin typeface="Noto Sans CJK SC"/>
              </a:defRPr>
            </a:pPr>
            <a:r>
              <a:t>A会主题精神 · 五色共彩 · DIY手绘 · 添彩卡 · 好友分享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828800"/>
            <a:ext cx="530352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828800"/>
            <a:ext cx="50292" cy="1737360"/>
          </a:xfrm>
          <a:prstGeom prst="rect">
            <a:avLst/>
          </a:prstGeom>
          <a:solidFill>
            <a:srgbClr val="B7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993392"/>
            <a:ext cx="4937759" cy="4572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52E4A"/>
                </a:solidFill>
                <a:latin typeface="Noto Sans CJK SC"/>
              </a:defRPr>
            </a:pPr>
            <a:r>
              <a:t>30%｜品牌引流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542032"/>
            <a:ext cx="4892040" cy="1005839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697584"/>
                </a:solidFill>
                <a:latin typeface="Noto Sans CJK SC"/>
              </a:defRPr>
            </a:pPr>
            <a:r>
              <a:t>真实「添彩杯」数字化展示 · 产品信息 · 专属包装 · 官方采购入口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94760"/>
            <a:ext cx="108813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794760"/>
            <a:ext cx="50292" cy="1645920"/>
          </a:xfrm>
          <a:prstGeom prst="rect">
            <a:avLst/>
          </a:prstGeom>
          <a:solidFill>
            <a:srgbClr val="4A96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" y="3959352"/>
            <a:ext cx="10515600" cy="4572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52E4A"/>
                </a:solidFill>
                <a:latin typeface="Noto Sans CJK SC"/>
              </a:defRPr>
            </a:pPr>
            <a:r>
              <a:t>四项不变的执行边界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4507992"/>
            <a:ext cx="10469880" cy="9144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697584"/>
                </a:solidFill>
                <a:latin typeface="Noto Sans CJK SC"/>
              </a:defRPr>
            </a:pPr>
            <a:r>
              <a:t>不出现A会Logo；无任何线下环节；实体杯具只有一款；用户个性化仅体现于数字作品和电子添彩卡。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7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37744"/>
            <a:ext cx="9144000" cy="2743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B78648"/>
                </a:solidFill>
                <a:latin typeface="Noto Sans CJK SC"/>
              </a:defRPr>
            </a:pPr>
            <a:r>
              <a:t>02 / CREATIVE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972800" cy="5943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52E4A"/>
                </a:solidFill>
                <a:latin typeface="Noto Sans CJK SC"/>
              </a:defRPr>
            </a:pPr>
            <a:r>
              <a:t>主题精神如何转化为个人表达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298448"/>
            <a:ext cx="10972800" cy="54864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697584"/>
                </a:solidFill>
                <a:latin typeface="Noto Sans CJK SC"/>
              </a:defRPr>
            </a:pPr>
            <a:r>
              <a:t>以「建设亚太共同体，促进共同繁荣」及开放、创新、合作为创意依据。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37960"/>
            <a:ext cx="11064240" cy="13716"/>
          </a:xfrm>
          <a:prstGeom prst="rect">
            <a:avLst/>
          </a:prstGeom>
          <a:solidFill>
            <a:srgbClr val="D8D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7" y="6583680"/>
            <a:ext cx="10058400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97584"/>
                </a:solidFill>
                <a:latin typeface="Noto Sans CJK SC"/>
              </a:defRPr>
            </a:pPr>
            <a:r>
              <a:t>敢为天下彩  ·  为A会添一点彩  /  线上预热H5创意提案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65392"/>
            <a:ext cx="365760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B78648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965960"/>
            <a:ext cx="2194560" cy="3520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965960"/>
            <a:ext cx="2194560" cy="146304"/>
          </a:xfrm>
          <a:prstGeom prst="rect">
            <a:avLst/>
          </a:prstGeom>
          <a:solidFill>
            <a:srgbClr val="367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2350008"/>
            <a:ext cx="1920240" cy="5029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3674B6"/>
                </a:solidFill>
                <a:latin typeface="Noto Sans CJK SC"/>
              </a:defRPr>
            </a:pPr>
            <a:r>
              <a:t>海纳蓝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2990088"/>
            <a:ext cx="1828800" cy="4114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152E4A"/>
                </a:solidFill>
                <a:latin typeface="Noto Sans CJK SC"/>
              </a:defRPr>
            </a:pPr>
            <a:r>
              <a:t>开放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3794760"/>
            <a:ext cx="1901952" cy="1325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697584"/>
                </a:solidFill>
                <a:latin typeface="Noto Sans CJK SC"/>
              </a:defRPr>
            </a:pPr>
            <a:r>
              <a:t>以开放之心，拥抱万千精彩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26079" y="1965960"/>
            <a:ext cx="2194560" cy="3520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6079" y="1965960"/>
            <a:ext cx="2194560" cy="146304"/>
          </a:xfrm>
          <a:prstGeom prst="rect">
            <a:avLst/>
          </a:prstGeom>
          <a:solidFill>
            <a:srgbClr val="806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90672" y="2350008"/>
            <a:ext cx="1920240" cy="5029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8062A8"/>
                </a:solidFill>
                <a:latin typeface="Noto Sans CJK SC"/>
              </a:defRPr>
            </a:pPr>
            <a:r>
              <a:t>焕新紫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90672" y="2990088"/>
            <a:ext cx="1828800" cy="4114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152E4A"/>
                </a:solidFill>
                <a:latin typeface="Noto Sans CJK SC"/>
              </a:defRPr>
            </a:pPr>
            <a:r>
              <a:t>创新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90672" y="3794760"/>
            <a:ext cx="1901952" cy="1325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697584"/>
                </a:solidFill>
                <a:latin typeface="Noto Sans CJK SC"/>
              </a:defRPr>
            </a:pPr>
            <a:r>
              <a:t>以创新之彩，点亮无限可能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57800" y="1965960"/>
            <a:ext cx="2194560" cy="3520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57800" y="1965960"/>
            <a:ext cx="2194560" cy="146304"/>
          </a:xfrm>
          <a:prstGeom prst="rect">
            <a:avLst/>
          </a:prstGeom>
          <a:solidFill>
            <a:srgbClr val="C69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22392" y="2350008"/>
            <a:ext cx="1920240" cy="5029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C69A45"/>
                </a:solidFill>
                <a:latin typeface="Noto Sans CJK SC"/>
              </a:defRPr>
            </a:pPr>
            <a:r>
              <a:t>同心金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22392" y="2990088"/>
            <a:ext cx="1828800" cy="4114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152E4A"/>
                </a:solidFill>
                <a:latin typeface="Noto Sans CJK SC"/>
              </a:defRPr>
            </a:pPr>
            <a:r>
              <a:t>合作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22392" y="3794760"/>
            <a:ext cx="1901952" cy="1325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697584"/>
                </a:solidFill>
                <a:latin typeface="Noto Sans CJK SC"/>
              </a:defRPr>
            </a:pPr>
            <a:r>
              <a:t>以携手之力，共绘美好未来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9519" y="1965960"/>
            <a:ext cx="2194560" cy="3520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589519" y="1965960"/>
            <a:ext cx="2194560" cy="146304"/>
          </a:xfrm>
          <a:prstGeom prst="rect">
            <a:avLst/>
          </a:prstGeom>
          <a:solidFill>
            <a:srgbClr val="4A96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54111" y="2350008"/>
            <a:ext cx="1920240" cy="5029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4A9679"/>
                </a:solidFill>
                <a:latin typeface="Noto Sans CJK SC"/>
              </a:defRPr>
            </a:pPr>
            <a:r>
              <a:t>共融绿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54111" y="2990088"/>
            <a:ext cx="1828800" cy="4114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152E4A"/>
                </a:solidFill>
                <a:latin typeface="Noto Sans CJK SC"/>
              </a:defRPr>
            </a:pPr>
            <a:r>
              <a:t>共同体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54111" y="3794760"/>
            <a:ext cx="1901952" cy="1325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697584"/>
                </a:solidFill>
                <a:latin typeface="Noto Sans CJK SC"/>
              </a:defRPr>
            </a:pPr>
            <a:r>
              <a:t>让不同的精彩，共同生长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21240" y="1965960"/>
            <a:ext cx="2194560" cy="3520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21240" y="1965960"/>
            <a:ext cx="2194560" cy="146304"/>
          </a:xfrm>
          <a:prstGeom prst="rect">
            <a:avLst/>
          </a:prstGeom>
          <a:solidFill>
            <a:srgbClr val="C65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85832" y="2350008"/>
            <a:ext cx="1920240" cy="5029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C65B60"/>
                </a:solidFill>
                <a:latin typeface="Noto Sans CJK SC"/>
              </a:defRPr>
            </a:pPr>
            <a:r>
              <a:t>繁盛红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85832" y="2990088"/>
            <a:ext cx="1828800" cy="4114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152E4A"/>
                </a:solidFill>
                <a:latin typeface="Noto Sans CJK SC"/>
              </a:defRPr>
            </a:pPr>
            <a:r>
              <a:t>共同繁荣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85832" y="3794760"/>
            <a:ext cx="1901952" cy="1325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697584"/>
                </a:solidFill>
                <a:latin typeface="Noto Sans CJK SC"/>
              </a:defRPr>
            </a:pPr>
            <a:r>
              <a:t>愿万千精彩，共同绽放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815584"/>
            <a:ext cx="10972800" cy="4114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697584"/>
                </a:solidFill>
                <a:latin typeface="Noto Sans CJK SC"/>
              </a:defRPr>
            </a:pPr>
            <a:r>
              <a:t>注：五色名称与寓意为本次H5原创创意表达，并非A会官方色彩体系。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7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37744"/>
            <a:ext cx="9144000" cy="2743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B78648"/>
                </a:solidFill>
                <a:latin typeface="Noto Sans CJK SC"/>
              </a:defRPr>
            </a:pPr>
            <a:r>
              <a:t>03 /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972800" cy="5943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52E4A"/>
                </a:solidFill>
                <a:latin typeface="Noto Sans CJK SC"/>
              </a:defRPr>
            </a:pPr>
            <a:r>
              <a:t>六步主流程：从一点彩到一张卡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298448"/>
            <a:ext cx="10972800" cy="54864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697584"/>
                </a:solidFill>
                <a:latin typeface="Noto Sans CJK SC"/>
              </a:defRPr>
            </a:pPr>
            <a:r>
              <a:t>3D产品先行引入文化体验；个人创作与分享是传播主角。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37960"/>
            <a:ext cx="11064240" cy="13716"/>
          </a:xfrm>
          <a:prstGeom prst="rect">
            <a:avLst/>
          </a:prstGeom>
          <a:solidFill>
            <a:srgbClr val="D8D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7" y="6583680"/>
            <a:ext cx="10058400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97584"/>
                </a:solidFill>
                <a:latin typeface="Noto Sans CJK SC"/>
              </a:defRPr>
            </a:pPr>
            <a:r>
              <a:t>敢为天下彩  ·  为A会添一点彩  /  线上预热H5创意提案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65392"/>
            <a:ext cx="365760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B78648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965960"/>
            <a:ext cx="1755648" cy="3246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creen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176272"/>
            <a:ext cx="1362456" cy="24231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" y="4718304"/>
            <a:ext cx="1600200" cy="32004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 algn="ctr">
              <a:spcAft>
                <a:spcPts val="900"/>
              </a:spcAft>
              <a:defRPr sz="1200" b="1">
                <a:solidFill>
                  <a:srgbClr val="152E4A"/>
                </a:solidFill>
                <a:latin typeface="Noto Sans CJK SC"/>
              </a:defRPr>
            </a:pPr>
            <a:r>
              <a:t>01 进入H5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14600" y="1965960"/>
            <a:ext cx="1755648" cy="3246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creen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6624" y="2176272"/>
            <a:ext cx="1362456" cy="2423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606040" y="4718304"/>
            <a:ext cx="1600200" cy="32004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 algn="ctr">
              <a:spcAft>
                <a:spcPts val="900"/>
              </a:spcAft>
              <a:defRPr sz="1200" b="1">
                <a:solidFill>
                  <a:srgbClr val="152E4A"/>
                </a:solidFill>
                <a:latin typeface="Noto Sans CJK SC"/>
              </a:defRPr>
            </a:pPr>
            <a:r>
              <a:t>02 数字产品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1965960"/>
            <a:ext cx="1755648" cy="3246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creen_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6864" y="2176272"/>
            <a:ext cx="1362456" cy="24231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26280" y="4718304"/>
            <a:ext cx="1600200" cy="32004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 algn="ctr">
              <a:spcAft>
                <a:spcPts val="900"/>
              </a:spcAft>
              <a:defRPr sz="1200" b="1">
                <a:solidFill>
                  <a:srgbClr val="152E4A"/>
                </a:solidFill>
                <a:latin typeface="Noto Sans CJK SC"/>
              </a:defRPr>
            </a:pPr>
            <a:r>
              <a:t>03 五色DIY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1965960"/>
            <a:ext cx="1755648" cy="3246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creen_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7104" y="2176272"/>
            <a:ext cx="1362456" cy="24231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46520" y="4718304"/>
            <a:ext cx="1600200" cy="32004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 algn="ctr">
              <a:spcAft>
                <a:spcPts val="900"/>
              </a:spcAft>
              <a:defRPr sz="1200" b="1">
                <a:solidFill>
                  <a:srgbClr val="152E4A"/>
                </a:solidFill>
                <a:latin typeface="Noto Sans CJK SC"/>
              </a:defRPr>
            </a:pPr>
            <a:r>
              <a:t>04 专属添彩卡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1965960"/>
            <a:ext cx="1755648" cy="3246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creen_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7344" y="2176272"/>
            <a:ext cx="1362456" cy="24231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366760" y="4718304"/>
            <a:ext cx="1600200" cy="32004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 algn="ctr">
              <a:spcAft>
                <a:spcPts val="900"/>
              </a:spcAft>
              <a:defRPr sz="1200" b="1">
                <a:solidFill>
                  <a:srgbClr val="152E4A"/>
                </a:solidFill>
                <a:latin typeface="Noto Sans CJK SC"/>
              </a:defRPr>
            </a:pPr>
            <a:r>
              <a:t>05 分享好友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95560" y="1965960"/>
            <a:ext cx="1755648" cy="3246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screen_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87584" y="2176272"/>
            <a:ext cx="1362456" cy="242316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287000" y="4718304"/>
            <a:ext cx="1600200" cy="32004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 algn="ctr">
              <a:spcAft>
                <a:spcPts val="900"/>
              </a:spcAft>
              <a:defRPr sz="1200" b="1">
                <a:solidFill>
                  <a:srgbClr val="152E4A"/>
                </a:solidFill>
                <a:latin typeface="Noto Sans CJK SC"/>
              </a:defRPr>
            </a:pPr>
            <a:r>
              <a:t>06 了解添彩杯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715000"/>
            <a:ext cx="10972800" cy="4572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697584"/>
                </a:solidFill>
                <a:latin typeface="Noto Sans CJK SC"/>
              </a:defRPr>
            </a:pPr>
            <a:r>
              <a:t>主路径：参与邀请 → 真实产品3D旋转 → 选择精神色彩 / 纹样 / 手绘 → 个人纪念 → 社交扩散 → 自主采购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7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37744"/>
            <a:ext cx="9144000" cy="2743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B78648"/>
                </a:solidFill>
                <a:latin typeface="Noto Sans CJK SC"/>
              </a:defRPr>
            </a:pPr>
            <a:r>
              <a:t>04 / SCREEN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972800" cy="5943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52E4A"/>
                </a:solidFill>
                <a:latin typeface="Noto Sans CJK SC"/>
              </a:defRPr>
            </a:pPr>
            <a:r>
              <a:t>01｜进入H5：这一届A会，还缺你一点彩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298448"/>
            <a:ext cx="10972800" cy="54864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697584"/>
                </a:solidFill>
                <a:latin typeface="Noto Sans CJK SC"/>
              </a:defRPr>
            </a:pPr>
            <a:r>
              <a:t>公共传播的第一印象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37960"/>
            <a:ext cx="11064240" cy="13716"/>
          </a:xfrm>
          <a:prstGeom prst="rect">
            <a:avLst/>
          </a:prstGeom>
          <a:solidFill>
            <a:srgbClr val="D8D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7" y="6583680"/>
            <a:ext cx="10058400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97584"/>
                </a:solidFill>
                <a:latin typeface="Noto Sans CJK SC"/>
              </a:defRPr>
            </a:pPr>
            <a:r>
              <a:t>敢为天下彩  ·  为A会添一点彩  /  线上预热H5创意提案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65392"/>
            <a:ext cx="365760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B78648"/>
                </a:solidFill>
                <a:latin typeface="Noto Sans CJK SC"/>
              </a:defRPr>
            </a:pPr>
            <a:r>
              <a:t>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1572768"/>
            <a:ext cx="2666619" cy="4626864"/>
          </a:xfrm>
          <a:prstGeom prst="roundRect">
            <a:avLst/>
          </a:prstGeom>
          <a:solidFill>
            <a:srgbClr val="15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creen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2520315" cy="4480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069080" y="1691640"/>
            <a:ext cx="731520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69080" y="1691640"/>
            <a:ext cx="50292" cy="1600200"/>
          </a:xfrm>
          <a:prstGeom prst="rect">
            <a:avLst/>
          </a:prstGeom>
          <a:solidFill>
            <a:srgbClr val="367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0248" y="1856232"/>
            <a:ext cx="6949440" cy="4572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52E4A"/>
                </a:solidFill>
                <a:latin typeface="Noto Sans CJK SC"/>
              </a:defRPr>
            </a:pPr>
            <a:r>
              <a:t>画面与交互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0248" y="2404872"/>
            <a:ext cx="6903720" cy="8686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697584"/>
                </a:solidFill>
                <a:latin typeface="Noto Sans CJK SC"/>
              </a:defRPr>
            </a:pPr>
            <a:r>
              <a:t>瓷白留白 → 彩色光点浮现 → 点线相遇；不出现产品价格、购买按钮及A会Logo。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69080" y="3520440"/>
            <a:ext cx="7315200" cy="22128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69080" y="3520440"/>
            <a:ext cx="50292" cy="2212848"/>
          </a:xfrm>
          <a:prstGeom prst="rect">
            <a:avLst/>
          </a:prstGeom>
          <a:solidFill>
            <a:srgbClr val="B7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70248" y="3685032"/>
            <a:ext cx="6949440" cy="4572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52E4A"/>
                </a:solidFill>
                <a:latin typeface="Noto Sans CJK SC"/>
              </a:defRPr>
            </a:pPr>
            <a:r>
              <a:t>屏幕文案 / 建议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0248" y="4233672"/>
            <a:ext cx="6903720" cy="148132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697584"/>
                </a:solidFill>
                <a:latin typeface="Noto Sans CJK SC"/>
              </a:defRPr>
            </a:pPr>
            <a:r>
              <a:t>世界的精彩，从每一点不同开始。</a:t>
            </a:r>
          </a:p>
          <a:p>
            <a:pPr>
              <a:spcAft>
                <a:spcPts val="900"/>
              </a:spcAft>
              <a:defRPr sz="1200" b="0">
                <a:solidFill>
                  <a:srgbClr val="697584"/>
                </a:solidFill>
                <a:latin typeface="Noto Sans CJK SC"/>
              </a:defRPr>
            </a:pPr>
            <a:r>
              <a:t>不同的色彩，因交流而相遇。</a:t>
            </a:r>
          </a:p>
          <a:p>
            <a:pPr>
              <a:spcAft>
                <a:spcPts val="900"/>
              </a:spcAft>
              <a:defRPr sz="1200" b="0">
                <a:solidFill>
                  <a:srgbClr val="697584"/>
                </a:solidFill>
                <a:latin typeface="Noto Sans CJK SC"/>
              </a:defRPr>
            </a:pPr>
            <a:r>
              <a:t>这一届A会，邀请你添上自己的这一点彩。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7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37744"/>
            <a:ext cx="9144000" cy="2743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B78648"/>
                </a:solidFill>
                <a:latin typeface="Noto Sans CJK SC"/>
              </a:defRPr>
            </a:pPr>
            <a:r>
              <a:t>04 / SCREEN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972800" cy="5943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52E4A"/>
                </a:solidFill>
                <a:latin typeface="Noto Sans CJK SC"/>
              </a:defRPr>
            </a:pPr>
            <a:r>
              <a:t>02｜点线汇聚：万千色彩，汇成一杯中国彩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298448"/>
            <a:ext cx="10972800" cy="54864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697584"/>
                </a:solidFill>
                <a:latin typeface="Noto Sans CJK SC"/>
              </a:defRPr>
            </a:pPr>
            <a:r>
              <a:t>以文化牵引产品出场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37960"/>
            <a:ext cx="11064240" cy="13716"/>
          </a:xfrm>
          <a:prstGeom prst="rect">
            <a:avLst/>
          </a:prstGeom>
          <a:solidFill>
            <a:srgbClr val="D8D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7" y="6583680"/>
            <a:ext cx="10058400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97584"/>
                </a:solidFill>
                <a:latin typeface="Noto Sans CJK SC"/>
              </a:defRPr>
            </a:pPr>
            <a:r>
              <a:t>敢为天下彩  ·  为A会添一点彩  /  线上预热H5创意提案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65392"/>
            <a:ext cx="365760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B78648"/>
                </a:solidFill>
                <a:latin typeface="Noto Sans CJK SC"/>
              </a:defRPr>
            </a:pPr>
            <a: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1572768"/>
            <a:ext cx="2666619" cy="4626864"/>
          </a:xfrm>
          <a:prstGeom prst="roundRect">
            <a:avLst/>
          </a:prstGeom>
          <a:solidFill>
            <a:srgbClr val="15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creen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2520315" cy="4480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069080" y="1691640"/>
            <a:ext cx="731520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69080" y="1691640"/>
            <a:ext cx="50292" cy="1600200"/>
          </a:xfrm>
          <a:prstGeom prst="rect">
            <a:avLst/>
          </a:prstGeom>
          <a:solidFill>
            <a:srgbClr val="367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0248" y="1856232"/>
            <a:ext cx="6949440" cy="4572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52E4A"/>
                </a:solidFill>
                <a:latin typeface="Noto Sans CJK SC"/>
              </a:defRPr>
            </a:pPr>
            <a:r>
              <a:t>画面与交互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0248" y="2404872"/>
            <a:ext cx="6903720" cy="8686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697584"/>
                </a:solidFill>
                <a:latin typeface="Noto Sans CJK SC"/>
              </a:defRPr>
            </a:pPr>
            <a:r>
              <a:t>延续上一屏的彩色点线，汇聚成广彩纹样与杯具轮廓；真实杯具数字模型渐显。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69080" y="3520440"/>
            <a:ext cx="7315200" cy="22128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69080" y="3520440"/>
            <a:ext cx="50292" cy="2212848"/>
          </a:xfrm>
          <a:prstGeom prst="rect">
            <a:avLst/>
          </a:prstGeom>
          <a:solidFill>
            <a:srgbClr val="B7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70248" y="3685032"/>
            <a:ext cx="6949440" cy="4572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52E4A"/>
                </a:solidFill>
                <a:latin typeface="Noto Sans CJK SC"/>
              </a:defRPr>
            </a:pPr>
            <a:r>
              <a:t>屏幕文案 / 建议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0248" y="4233672"/>
            <a:ext cx="6903720" cy="148132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697584"/>
                </a:solidFill>
                <a:latin typeface="Noto Sans CJK SC"/>
              </a:defRPr>
            </a:pPr>
            <a:r>
              <a:t>一点彩，是一份美好的祝福。</a:t>
            </a:r>
          </a:p>
          <a:p>
            <a:pPr>
              <a:spcAft>
                <a:spcPts val="900"/>
              </a:spcAft>
              <a:defRPr sz="1200" b="0">
                <a:solidFill>
                  <a:srgbClr val="697584"/>
                </a:solidFill>
                <a:latin typeface="Noto Sans CJK SC"/>
              </a:defRPr>
            </a:pPr>
            <a:r>
              <a:t>万千彩，汇聚成共同的精彩。</a:t>
            </a:r>
          </a:p>
          <a:p>
            <a:pPr>
              <a:spcAft>
                <a:spcPts val="900"/>
              </a:spcAft>
              <a:defRPr sz="1200" b="0">
                <a:solidFill>
                  <a:srgbClr val="697584"/>
                </a:solidFill>
                <a:latin typeface="Noto Sans CJK SC"/>
              </a:defRPr>
            </a:pPr>
            <a:r>
              <a:t>当中国彩遇见当代创新，这份精彩有了新的表达。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7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37744"/>
            <a:ext cx="9144000" cy="2743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B78648"/>
                </a:solidFill>
                <a:latin typeface="Noto Sans CJK SC"/>
              </a:defRPr>
            </a:pPr>
            <a:r>
              <a:t>04 / SCREEN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972800" cy="5943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52E4A"/>
                </a:solidFill>
                <a:latin typeface="Noto Sans CJK SC"/>
              </a:defRPr>
            </a:pPr>
            <a:r>
              <a:t>02｜3D交互：转动这一杯，看见更多中国彩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298448"/>
            <a:ext cx="10972800" cy="54864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697584"/>
                </a:solidFill>
                <a:latin typeface="Noto Sans CJK SC"/>
              </a:defRPr>
            </a:pPr>
            <a:r>
              <a:t>产品数字化 ≠ 商品硬广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37960"/>
            <a:ext cx="11064240" cy="13716"/>
          </a:xfrm>
          <a:prstGeom prst="rect">
            <a:avLst/>
          </a:prstGeom>
          <a:solidFill>
            <a:srgbClr val="D8D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7" y="6583680"/>
            <a:ext cx="10058400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97584"/>
                </a:solidFill>
                <a:latin typeface="Noto Sans CJK SC"/>
              </a:defRPr>
            </a:pPr>
            <a:r>
              <a:t>敢为天下彩  ·  为A会添一点彩  /  线上预热H5创意提案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65392"/>
            <a:ext cx="365760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B78648"/>
                </a:solidFill>
                <a:latin typeface="Noto Sans CJK SC"/>
              </a:defRPr>
            </a:pPr>
            <a:r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1572768"/>
            <a:ext cx="2666619" cy="4626864"/>
          </a:xfrm>
          <a:prstGeom prst="roundRect">
            <a:avLst/>
          </a:prstGeom>
          <a:solidFill>
            <a:srgbClr val="15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creen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2520315" cy="4480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069080" y="1691640"/>
            <a:ext cx="731520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69080" y="1691640"/>
            <a:ext cx="50292" cy="1600200"/>
          </a:xfrm>
          <a:prstGeom prst="rect">
            <a:avLst/>
          </a:prstGeom>
          <a:solidFill>
            <a:srgbClr val="367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0248" y="1856232"/>
            <a:ext cx="6949440" cy="4572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52E4A"/>
                </a:solidFill>
                <a:latin typeface="Noto Sans CJK SC"/>
              </a:defRPr>
            </a:pPr>
            <a:r>
              <a:t>画面与交互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0248" y="2404872"/>
            <a:ext cx="6903720" cy="8686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697584"/>
                </a:solidFill>
                <a:latin typeface="Noto Sans CJK SC"/>
              </a:defRPr>
            </a:pPr>
            <a:r>
              <a:t>对唯一真实杯具进行数字化采集；拖动旋转，点按查看纹样与创新信息。高反光釉面需先测试建模效果。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69080" y="3520440"/>
            <a:ext cx="7315200" cy="22128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69080" y="3520440"/>
            <a:ext cx="50292" cy="2212848"/>
          </a:xfrm>
          <a:prstGeom prst="rect">
            <a:avLst/>
          </a:prstGeom>
          <a:solidFill>
            <a:srgbClr val="B7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70248" y="3685032"/>
            <a:ext cx="6949440" cy="4572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52E4A"/>
                </a:solidFill>
                <a:latin typeface="Noto Sans CJK SC"/>
              </a:defRPr>
            </a:pPr>
            <a:r>
              <a:t>屏幕文案 / 建议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0248" y="4233672"/>
            <a:ext cx="6903720" cy="148132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697584"/>
                </a:solidFill>
                <a:latin typeface="Noto Sans CJK SC"/>
              </a:defRPr>
            </a:pPr>
            <a:r>
              <a:t>轻轻转动，看见中国彩的更多精彩。</a:t>
            </a:r>
          </a:p>
          <a:p>
            <a:pPr>
              <a:spcAft>
                <a:spcPts val="900"/>
              </a:spcAft>
              <a:defRPr sz="1200" b="0">
                <a:solidFill>
                  <a:srgbClr val="697584"/>
                </a:solidFill>
                <a:latin typeface="Noto Sans CJK SC"/>
              </a:defRPr>
            </a:pPr>
            <a:r>
              <a:t>一笔一彩，寄托美好祝愿。</a:t>
            </a:r>
          </a:p>
          <a:p>
            <a:pPr>
              <a:spcAft>
                <a:spcPts val="900"/>
              </a:spcAft>
              <a:defRPr sz="1200" b="0">
                <a:solidFill>
                  <a:srgbClr val="697584"/>
                </a:solidFill>
                <a:latin typeface="Noto Sans CJK SC"/>
              </a:defRPr>
            </a:pPr>
            <a:r>
              <a:t>下一点精彩，由你来添。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7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37744"/>
            <a:ext cx="9144000" cy="2743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B78648"/>
                </a:solidFill>
                <a:latin typeface="Noto Sans CJK SC"/>
              </a:defRPr>
            </a:pPr>
            <a:r>
              <a:t>04 / SCREEN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972800" cy="5943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52E4A"/>
                </a:solidFill>
                <a:latin typeface="Noto Sans CJK SC"/>
              </a:defRPr>
            </a:pPr>
            <a:r>
              <a:t>03｜选择色彩：五色共彩，一人一愿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298448"/>
            <a:ext cx="10972800" cy="54864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697584"/>
                </a:solidFill>
                <a:latin typeface="Noto Sans CJK SC"/>
              </a:defRPr>
            </a:pPr>
            <a:r>
              <a:t>把会议主题变成个人祝福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37960"/>
            <a:ext cx="11064240" cy="13716"/>
          </a:xfrm>
          <a:prstGeom prst="rect">
            <a:avLst/>
          </a:prstGeom>
          <a:solidFill>
            <a:srgbClr val="D8D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7" y="6583680"/>
            <a:ext cx="10058400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97584"/>
                </a:solidFill>
                <a:latin typeface="Noto Sans CJK SC"/>
              </a:defRPr>
            </a:pPr>
            <a:r>
              <a:t>敢为天下彩  ·  为A会添一点彩  /  线上预热H5创意提案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65392"/>
            <a:ext cx="365760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B78648"/>
                </a:solidFill>
                <a:latin typeface="Noto Sans CJK SC"/>
              </a:defRPr>
            </a:pPr>
            <a:r>
              <a:t>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1572768"/>
            <a:ext cx="2666619" cy="4626864"/>
          </a:xfrm>
          <a:prstGeom prst="roundRect">
            <a:avLst/>
          </a:prstGeom>
          <a:solidFill>
            <a:srgbClr val="15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creen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2520315" cy="4480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069080" y="1691640"/>
            <a:ext cx="731520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69080" y="1691640"/>
            <a:ext cx="50292" cy="1600200"/>
          </a:xfrm>
          <a:prstGeom prst="rect">
            <a:avLst/>
          </a:prstGeom>
          <a:solidFill>
            <a:srgbClr val="367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0248" y="1856232"/>
            <a:ext cx="6949440" cy="4572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52E4A"/>
                </a:solidFill>
                <a:latin typeface="Noto Sans CJK SC"/>
              </a:defRPr>
            </a:pPr>
            <a:r>
              <a:t>画面与交互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0248" y="2404872"/>
            <a:ext cx="6903720" cy="8686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697584"/>
                </a:solidFill>
                <a:latin typeface="Noto Sans CJK SC"/>
              </a:defRPr>
            </a:pPr>
            <a:r>
              <a:t>五颗色彩光点对应五个原创名称；用户点击预览寓意与动画，选择其一。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69080" y="3520440"/>
            <a:ext cx="7315200" cy="22128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69080" y="3520440"/>
            <a:ext cx="50292" cy="2212848"/>
          </a:xfrm>
          <a:prstGeom prst="rect">
            <a:avLst/>
          </a:prstGeom>
          <a:solidFill>
            <a:srgbClr val="B7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70248" y="3685032"/>
            <a:ext cx="6949440" cy="4572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52E4A"/>
                </a:solidFill>
                <a:latin typeface="Noto Sans CJK SC"/>
              </a:defRPr>
            </a:pPr>
            <a:r>
              <a:t>屏幕文案 / 建议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0248" y="4233672"/>
            <a:ext cx="6903720" cy="148132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697584"/>
                </a:solidFill>
                <a:latin typeface="Noto Sans CJK SC"/>
              </a:defRPr>
            </a:pPr>
            <a:r>
              <a:t>海纳蓝·开放｜焕新紫·创新</a:t>
            </a:r>
          </a:p>
          <a:p>
            <a:pPr>
              <a:spcAft>
                <a:spcPts val="900"/>
              </a:spcAft>
              <a:defRPr sz="1200" b="0">
                <a:solidFill>
                  <a:srgbClr val="697584"/>
                </a:solidFill>
                <a:latin typeface="Noto Sans CJK SC"/>
              </a:defRPr>
            </a:pPr>
            <a:r>
              <a:t>同心金·合作｜共融绿·共同体</a:t>
            </a:r>
          </a:p>
          <a:p>
            <a:pPr>
              <a:spcAft>
                <a:spcPts val="900"/>
              </a:spcAft>
              <a:defRPr sz="1200" b="0">
                <a:solidFill>
                  <a:srgbClr val="697584"/>
                </a:solidFill>
                <a:latin typeface="Noto Sans CJK SC"/>
              </a:defRPr>
            </a:pPr>
            <a:r>
              <a:t>繁盛红·共同繁荣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7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37744"/>
            <a:ext cx="9144000" cy="2743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B78648"/>
                </a:solidFill>
                <a:latin typeface="Noto Sans CJK SC"/>
              </a:defRPr>
            </a:pPr>
            <a:r>
              <a:t>04 / SCREEN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972800" cy="5943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52E4A"/>
                </a:solidFill>
                <a:latin typeface="Noto Sans CJK SC"/>
              </a:defRPr>
            </a:pPr>
            <a:r>
              <a:t>03｜DIY手绘：让个人轨迹成为作品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298448"/>
            <a:ext cx="10972800" cy="54864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697584"/>
                </a:solidFill>
                <a:latin typeface="Noto Sans CJK SC"/>
              </a:defRPr>
            </a:pPr>
            <a:r>
              <a:t>颜色 × 纹样 × 手绘 × 祝福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37960"/>
            <a:ext cx="11064240" cy="13716"/>
          </a:xfrm>
          <a:prstGeom prst="rect">
            <a:avLst/>
          </a:prstGeom>
          <a:solidFill>
            <a:srgbClr val="D8D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7" y="6583680"/>
            <a:ext cx="10058400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97584"/>
                </a:solidFill>
                <a:latin typeface="Noto Sans CJK SC"/>
              </a:defRPr>
            </a:pPr>
            <a:r>
              <a:t>敢为天下彩  ·  为A会添一点彩  /  线上预热H5创意提案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65392"/>
            <a:ext cx="365760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B78648"/>
                </a:solidFill>
                <a:latin typeface="Noto Sans CJK SC"/>
              </a:defRPr>
            </a:pPr>
            <a:r>
              <a:t>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1572768"/>
            <a:ext cx="2666619" cy="4626864"/>
          </a:xfrm>
          <a:prstGeom prst="roundRect">
            <a:avLst/>
          </a:prstGeom>
          <a:solidFill>
            <a:srgbClr val="15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creen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2520315" cy="4480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069080" y="1691640"/>
            <a:ext cx="731520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69080" y="1691640"/>
            <a:ext cx="50292" cy="1600200"/>
          </a:xfrm>
          <a:prstGeom prst="rect">
            <a:avLst/>
          </a:prstGeom>
          <a:solidFill>
            <a:srgbClr val="367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0248" y="1856232"/>
            <a:ext cx="6949440" cy="4572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52E4A"/>
                </a:solidFill>
                <a:latin typeface="Noto Sans CJK SC"/>
              </a:defRPr>
            </a:pPr>
            <a:r>
              <a:t>画面与交互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0248" y="2404872"/>
            <a:ext cx="6903720" cy="8686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697584"/>
                </a:solidFill>
                <a:latin typeface="Noto Sans CJK SC"/>
              </a:defRPr>
            </a:pPr>
            <a:r>
              <a:t>选择广彩花卉、蝶、飞鸟、枝蔓等数字素材；手势轨迹转化为装饰性纹样。只改变数字画布，不改变实体杯具。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69080" y="3520440"/>
            <a:ext cx="7315200" cy="22128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69080" y="3520440"/>
            <a:ext cx="50292" cy="2212848"/>
          </a:xfrm>
          <a:prstGeom prst="rect">
            <a:avLst/>
          </a:prstGeom>
          <a:solidFill>
            <a:srgbClr val="B7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70248" y="3685032"/>
            <a:ext cx="6949440" cy="4572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52E4A"/>
                </a:solidFill>
                <a:latin typeface="Noto Sans CJK SC"/>
              </a:defRPr>
            </a:pPr>
            <a:r>
              <a:t>屏幕文案 / 建议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0248" y="4233672"/>
            <a:ext cx="6903720" cy="148132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697584"/>
                </a:solidFill>
                <a:latin typeface="Noto Sans CJK SC"/>
              </a:defRPr>
            </a:pPr>
            <a:r>
              <a:t>这一杯中国彩，承载美好祝愿。</a:t>
            </a:r>
          </a:p>
          <a:p>
            <a:pPr>
              <a:spcAft>
                <a:spcPts val="900"/>
              </a:spcAft>
              <a:defRPr sz="1200" b="0">
                <a:solidFill>
                  <a:srgbClr val="697584"/>
                </a:solidFill>
                <a:latin typeface="Noto Sans CJK SC"/>
              </a:defRPr>
            </a:pPr>
            <a:r>
              <a:t>下一点精彩，由你来添。</a:t>
            </a:r>
          </a:p>
          <a:p>
            <a:pPr>
              <a:spcAft>
                <a:spcPts val="900"/>
              </a:spcAft>
              <a:defRPr sz="1200" b="0">
                <a:solidFill>
                  <a:srgbClr val="697584"/>
                </a:solidFill>
                <a:latin typeface="Noto Sans CJK SC"/>
              </a:defRPr>
            </a:pPr>
            <a:r>
              <a:t>「完成我的作品」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7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37744"/>
            <a:ext cx="9144000" cy="2743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B78648"/>
                </a:solidFill>
                <a:latin typeface="Noto Sans CJK SC"/>
              </a:defRPr>
            </a:pPr>
            <a:r>
              <a:t>04 / SCREEN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972800" cy="5943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52E4A"/>
                </a:solidFill>
                <a:latin typeface="Noto Sans CJK SC"/>
              </a:defRPr>
            </a:pPr>
            <a:r>
              <a:t>04｜生成添彩卡：个人身份与活动纪念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298448"/>
            <a:ext cx="10972800" cy="54864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697584"/>
                </a:solidFill>
                <a:latin typeface="Noto Sans CJK SC"/>
              </a:defRPr>
            </a:pPr>
            <a:r>
              <a:t>独一无二的数字纪念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37960"/>
            <a:ext cx="11064240" cy="13716"/>
          </a:xfrm>
          <a:prstGeom prst="rect">
            <a:avLst/>
          </a:prstGeom>
          <a:solidFill>
            <a:srgbClr val="D8D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7" y="6583680"/>
            <a:ext cx="10058400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97584"/>
                </a:solidFill>
                <a:latin typeface="Noto Sans CJK SC"/>
              </a:defRPr>
            </a:pPr>
            <a:r>
              <a:t>敢为天下彩  ·  为A会添一点彩  /  线上预热H5创意提案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65392"/>
            <a:ext cx="365760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B78648"/>
                </a:solidFill>
                <a:latin typeface="Noto Sans CJK SC"/>
              </a:defRPr>
            </a:pPr>
            <a: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1572768"/>
            <a:ext cx="2666619" cy="4626864"/>
          </a:xfrm>
          <a:prstGeom prst="roundRect">
            <a:avLst/>
          </a:prstGeom>
          <a:solidFill>
            <a:srgbClr val="15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creen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2520315" cy="4480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069080" y="1691640"/>
            <a:ext cx="731520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69080" y="1691640"/>
            <a:ext cx="50292" cy="1600200"/>
          </a:xfrm>
          <a:prstGeom prst="rect">
            <a:avLst/>
          </a:prstGeom>
          <a:solidFill>
            <a:srgbClr val="367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0248" y="1856232"/>
            <a:ext cx="6949440" cy="4572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52E4A"/>
                </a:solidFill>
                <a:latin typeface="Noto Sans CJK SC"/>
              </a:defRPr>
            </a:pPr>
            <a:r>
              <a:t>画面与交互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0248" y="2404872"/>
            <a:ext cx="6903720" cy="8686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697584"/>
                </a:solidFill>
                <a:latin typeface="Noto Sans CJK SC"/>
              </a:defRPr>
            </a:pPr>
            <a:r>
              <a:t>专属色彩名称、用户创作、城市/昵称（自愿填写）、个人宣言、真实参与序号；不放A会Logo。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69080" y="3520440"/>
            <a:ext cx="7315200" cy="22128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69080" y="3520440"/>
            <a:ext cx="50292" cy="2212848"/>
          </a:xfrm>
          <a:prstGeom prst="rect">
            <a:avLst/>
          </a:prstGeom>
          <a:solidFill>
            <a:srgbClr val="B7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70248" y="3685032"/>
            <a:ext cx="6949440" cy="4572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52E4A"/>
                </a:solidFill>
                <a:latin typeface="Noto Sans CJK SC"/>
              </a:defRPr>
            </a:pPr>
            <a:r>
              <a:t>屏幕文案 / 建议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0248" y="4233672"/>
            <a:ext cx="6903720" cy="148132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697584"/>
                </a:solidFill>
                <a:latin typeface="Noto Sans CJK SC"/>
              </a:defRPr>
            </a:pPr>
            <a:r>
              <a:t>我的亚太共彩｜海纳蓝</a:t>
            </a:r>
          </a:p>
          <a:p>
            <a:pPr>
              <a:spcAft>
                <a:spcPts val="900"/>
              </a:spcAft>
              <a:defRPr sz="1200" b="0">
                <a:solidFill>
                  <a:srgbClr val="697584"/>
                </a:solidFill>
                <a:latin typeface="Noto Sans CJK SC"/>
              </a:defRPr>
            </a:pPr>
            <a:r>
              <a:t>我是第 XXX 位为A会添彩的参与者。</a:t>
            </a:r>
          </a:p>
          <a:p>
            <a:pPr>
              <a:spcAft>
                <a:spcPts val="900"/>
              </a:spcAft>
              <a:defRPr sz="1200" b="0">
                <a:solidFill>
                  <a:srgbClr val="697584"/>
                </a:solidFill>
                <a:latin typeface="Noto Sans CJK SC"/>
              </a:defRPr>
            </a:pPr>
            <a:r>
              <a:t>一人一点彩，汇聚万千精彩。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7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37744"/>
            <a:ext cx="9144000" cy="2743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B78648"/>
                </a:solidFill>
                <a:latin typeface="Noto Sans CJK SC"/>
              </a:defRPr>
            </a:pPr>
            <a:r>
              <a:t>04 / SCREEN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972800" cy="5943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52E4A"/>
                </a:solidFill>
                <a:latin typeface="Noto Sans CJK SC"/>
              </a:defRPr>
            </a:pPr>
            <a:r>
              <a:t>05—06｜分享扩散与自主了解产品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298448"/>
            <a:ext cx="10972800" cy="54864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697584"/>
                </a:solidFill>
                <a:latin typeface="Noto Sans CJK SC"/>
              </a:defRPr>
            </a:pPr>
            <a:r>
              <a:t>先分享文化，再选择了解商品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37960"/>
            <a:ext cx="11064240" cy="13716"/>
          </a:xfrm>
          <a:prstGeom prst="rect">
            <a:avLst/>
          </a:prstGeom>
          <a:solidFill>
            <a:srgbClr val="D8D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7" y="6583680"/>
            <a:ext cx="10058400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97584"/>
                </a:solidFill>
                <a:latin typeface="Noto Sans CJK SC"/>
              </a:defRPr>
            </a:pPr>
            <a:r>
              <a:t>敢为天下彩  ·  为A会添一点彩  /  线上预热H5创意提案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65392"/>
            <a:ext cx="365760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B78648"/>
                </a:solidFill>
                <a:latin typeface="Noto Sans CJK SC"/>
              </a:defRPr>
            </a:pPr>
            <a: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1572768"/>
            <a:ext cx="2666619" cy="4626864"/>
          </a:xfrm>
          <a:prstGeom prst="roundRect">
            <a:avLst/>
          </a:prstGeom>
          <a:solidFill>
            <a:srgbClr val="15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creen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2520315" cy="4480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069080" y="1691640"/>
            <a:ext cx="731520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69080" y="1691640"/>
            <a:ext cx="50292" cy="1600200"/>
          </a:xfrm>
          <a:prstGeom prst="rect">
            <a:avLst/>
          </a:prstGeom>
          <a:solidFill>
            <a:srgbClr val="367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0248" y="1856232"/>
            <a:ext cx="6949440" cy="4572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52E4A"/>
                </a:solidFill>
                <a:latin typeface="Noto Sans CJK SC"/>
              </a:defRPr>
            </a:pPr>
            <a:r>
              <a:t>画面与交互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0248" y="2404872"/>
            <a:ext cx="6903720" cy="8686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697584"/>
                </a:solidFill>
                <a:latin typeface="Noto Sans CJK SC"/>
              </a:defRPr>
            </a:pPr>
            <a:r>
              <a:t>保存/分享为主按钮；「了解添彩杯」为次级入口。跳转官方产品介绍与采购渠道，展示统一活动专属包装。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69080" y="3520440"/>
            <a:ext cx="7315200" cy="22128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69080" y="3520440"/>
            <a:ext cx="50292" cy="2212848"/>
          </a:xfrm>
          <a:prstGeom prst="rect">
            <a:avLst/>
          </a:prstGeom>
          <a:solidFill>
            <a:srgbClr val="B7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70248" y="3685032"/>
            <a:ext cx="6949440" cy="4572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52E4A"/>
                </a:solidFill>
                <a:latin typeface="Noto Sans CJK SC"/>
              </a:defRPr>
            </a:pPr>
            <a:r>
              <a:t>屏幕文案 / 建议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0248" y="4233672"/>
            <a:ext cx="6903720" cy="148132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697584"/>
                </a:solidFill>
                <a:latin typeface="Noto Sans CJK SC"/>
              </a:defRPr>
            </a:pPr>
            <a:r>
              <a:t>今天，我为A会添上一抹海纳蓝。</a:t>
            </a:r>
          </a:p>
          <a:p>
            <a:pPr>
              <a:spcAft>
                <a:spcPts val="900"/>
              </a:spcAft>
              <a:defRPr sz="1200" b="0">
                <a:solidFill>
                  <a:srgbClr val="697584"/>
                </a:solidFill>
                <a:latin typeface="Noto Sans CJK SC"/>
              </a:defRPr>
            </a:pPr>
            <a:r>
              <a:t>下一点精彩，等你来添！</a:t>
            </a:r>
          </a:p>
          <a:p>
            <a:pPr>
              <a:spcAft>
                <a:spcPts val="900"/>
              </a:spcAft>
              <a:defRPr sz="1200" b="0">
                <a:solidFill>
                  <a:srgbClr val="697584"/>
                </a:solidFill>
                <a:latin typeface="Noto Sans CJK SC"/>
              </a:defRPr>
            </a:pPr>
            <a:r>
              <a:t>为A会添一点彩，为生活添一杯彩。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7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37744"/>
            <a:ext cx="9144000" cy="2743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B78648"/>
                </a:solidFill>
                <a:latin typeface="Noto Sans CJK SC"/>
              </a:defRPr>
            </a:pPr>
            <a:r>
              <a:t>05 / PERSONALIZATION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972800" cy="5943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52E4A"/>
                </a:solidFill>
                <a:latin typeface="Noto Sans CJK SC"/>
              </a:defRPr>
            </a:pPr>
            <a:r>
              <a:t>五色专属卡：相同参与机制，不同个人表达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298448"/>
            <a:ext cx="10972800" cy="54864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697584"/>
                </a:solidFill>
                <a:latin typeface="Noto Sans CJK SC"/>
              </a:defRPr>
            </a:pPr>
            <a:r>
              <a:t>五种数字视觉体系服务个人分享；真实杯具不随用户选择变化。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37960"/>
            <a:ext cx="11064240" cy="13716"/>
          </a:xfrm>
          <a:prstGeom prst="rect">
            <a:avLst/>
          </a:prstGeom>
          <a:solidFill>
            <a:srgbClr val="D8D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7" y="6583680"/>
            <a:ext cx="10058400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97584"/>
                </a:solidFill>
                <a:latin typeface="Noto Sans CJK SC"/>
              </a:defRPr>
            </a:pPr>
            <a:r>
              <a:t>敢为天下彩  ·  为A会添一点彩  /  线上预热H5创意提案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65392"/>
            <a:ext cx="365760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B78648"/>
                </a:solidFill>
                <a:latin typeface="Noto Sans CJK SC"/>
              </a:defRPr>
            </a:pPr>
            <a: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" y="1828800"/>
            <a:ext cx="2176272" cy="3886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13232" y="1965960"/>
            <a:ext cx="1901952" cy="1828800"/>
          </a:xfrm>
          <a:prstGeom prst="roundRect">
            <a:avLst/>
          </a:prstGeom>
          <a:solidFill>
            <a:srgbClr val="367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2258568"/>
            <a:ext cx="1783080" cy="29260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FFFFFF"/>
                </a:solidFill>
                <a:latin typeface="Noto Sans CJK SC"/>
              </a:defRPr>
            </a:pPr>
            <a:r>
              <a:t>我的亚太共彩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743200"/>
            <a:ext cx="1783080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 algn="ctr">
              <a:spcAft>
                <a:spcPts val="900"/>
              </a:spcAft>
              <a:defRPr sz="2200" b="1">
                <a:solidFill>
                  <a:srgbClr val="FFFFFF"/>
                </a:solidFill>
                <a:latin typeface="Noto Sans CJK SC"/>
              </a:defRPr>
            </a:pPr>
            <a:r>
              <a:t>海纳蓝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50791"/>
            <a:ext cx="1828800" cy="34747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3674B6"/>
                </a:solidFill>
                <a:latin typeface="Noto Sans CJK SC"/>
              </a:defRPr>
            </a:pPr>
            <a:r>
              <a:t>开放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53712"/>
            <a:ext cx="1856231" cy="9601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697584"/>
                </a:solidFill>
                <a:latin typeface="Noto Sans CJK SC"/>
              </a:defRPr>
            </a:pPr>
            <a:r>
              <a:t>以开放之心，拥抱万千精彩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07791" y="1828800"/>
            <a:ext cx="2176272" cy="3886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044951" y="1965960"/>
            <a:ext cx="1901952" cy="1828800"/>
          </a:xfrm>
          <a:prstGeom prst="roundRect">
            <a:avLst/>
          </a:prstGeom>
          <a:solidFill>
            <a:srgbClr val="806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27248" y="2258568"/>
            <a:ext cx="1783080" cy="29260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FFFFFF"/>
                </a:solidFill>
                <a:latin typeface="Noto Sans CJK SC"/>
              </a:defRPr>
            </a:pPr>
            <a:r>
              <a:t>我的亚太共彩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99815" y="2743200"/>
            <a:ext cx="1783080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 algn="ctr">
              <a:spcAft>
                <a:spcPts val="900"/>
              </a:spcAft>
              <a:defRPr sz="2200" b="1">
                <a:solidFill>
                  <a:srgbClr val="FFFFFF"/>
                </a:solidFill>
                <a:latin typeface="Noto Sans CJK SC"/>
              </a:defRPr>
            </a:pPr>
            <a:r>
              <a:t>焕新紫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39" y="4050791"/>
            <a:ext cx="1828800" cy="34747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8062A8"/>
                </a:solidFill>
                <a:latin typeface="Noto Sans CJK SC"/>
              </a:defRPr>
            </a:pPr>
            <a:r>
              <a:t>创新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39" y="4553712"/>
            <a:ext cx="1856231" cy="9601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697584"/>
                </a:solidFill>
                <a:latin typeface="Noto Sans CJK SC"/>
              </a:defRPr>
            </a:pPr>
            <a:r>
              <a:t>以创新之彩，点亮无限可能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39512" y="1828800"/>
            <a:ext cx="2176272" cy="3886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376672" y="1965960"/>
            <a:ext cx="1901952" cy="1828800"/>
          </a:xfrm>
          <a:prstGeom prst="roundRect">
            <a:avLst/>
          </a:prstGeom>
          <a:solidFill>
            <a:srgbClr val="C69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58968" y="2258568"/>
            <a:ext cx="1783080" cy="29260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FFFFFF"/>
                </a:solidFill>
                <a:latin typeface="Noto Sans CJK SC"/>
              </a:defRPr>
            </a:pPr>
            <a:r>
              <a:t>我的亚太共彩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31536" y="2743200"/>
            <a:ext cx="1783080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 algn="ctr">
              <a:spcAft>
                <a:spcPts val="900"/>
              </a:spcAft>
              <a:defRPr sz="2200" b="1">
                <a:solidFill>
                  <a:srgbClr val="FFFFFF"/>
                </a:solidFill>
                <a:latin typeface="Noto Sans CJK SC"/>
              </a:defRPr>
            </a:pPr>
            <a:r>
              <a:t>同心金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59" y="4050791"/>
            <a:ext cx="1828800" cy="34747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C69A45"/>
                </a:solidFill>
                <a:latin typeface="Noto Sans CJK SC"/>
              </a:defRPr>
            </a:pPr>
            <a:r>
              <a:t>合作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59" y="4553712"/>
            <a:ext cx="1856231" cy="9601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697584"/>
                </a:solidFill>
                <a:latin typeface="Noto Sans CJK SC"/>
              </a:defRPr>
            </a:pPr>
            <a:r>
              <a:t>以携手之力，共绘美好未来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71231" y="1828800"/>
            <a:ext cx="2176272" cy="3886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708392" y="1965960"/>
            <a:ext cx="1901952" cy="1828800"/>
          </a:xfrm>
          <a:prstGeom prst="roundRect">
            <a:avLst/>
          </a:prstGeom>
          <a:solidFill>
            <a:srgbClr val="4A96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90688" y="2258568"/>
            <a:ext cx="1783080" cy="29260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FFFFFF"/>
                </a:solidFill>
                <a:latin typeface="Noto Sans CJK SC"/>
              </a:defRPr>
            </a:pPr>
            <a:r>
              <a:t>我的亚太共彩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63256" y="2743200"/>
            <a:ext cx="1783080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 algn="ctr">
              <a:spcAft>
                <a:spcPts val="900"/>
              </a:spcAft>
              <a:defRPr sz="2200" b="1">
                <a:solidFill>
                  <a:srgbClr val="FFFFFF"/>
                </a:solidFill>
                <a:latin typeface="Noto Sans CJK SC"/>
              </a:defRPr>
            </a:pPr>
            <a:r>
              <a:t>共融绿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26679" y="4050791"/>
            <a:ext cx="1828800" cy="34747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4A9679"/>
                </a:solidFill>
                <a:latin typeface="Noto Sans CJK SC"/>
              </a:defRPr>
            </a:pPr>
            <a:r>
              <a:t>共同体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79" y="4553712"/>
            <a:ext cx="1856231" cy="9601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697584"/>
                </a:solidFill>
                <a:latin typeface="Noto Sans CJK SC"/>
              </a:defRPr>
            </a:pPr>
            <a:r>
              <a:t>让不同的精彩，共同生长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02952" y="1828800"/>
            <a:ext cx="2176272" cy="3886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0040112" y="1965960"/>
            <a:ext cx="1901952" cy="1828800"/>
          </a:xfrm>
          <a:prstGeom prst="roundRect">
            <a:avLst/>
          </a:prstGeom>
          <a:solidFill>
            <a:srgbClr val="C65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22408" y="2258568"/>
            <a:ext cx="1783080" cy="29260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FFFFFF"/>
                </a:solidFill>
                <a:latin typeface="Noto Sans CJK SC"/>
              </a:defRPr>
            </a:pPr>
            <a:r>
              <a:t>我的亚太共彩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94976" y="2743200"/>
            <a:ext cx="1783080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 algn="ctr">
              <a:spcAft>
                <a:spcPts val="900"/>
              </a:spcAft>
              <a:defRPr sz="2200" b="1">
                <a:solidFill>
                  <a:srgbClr val="FFFFFF"/>
                </a:solidFill>
                <a:latin typeface="Noto Sans CJK SC"/>
              </a:defRPr>
            </a:pPr>
            <a:r>
              <a:t>繁盛红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4050791"/>
            <a:ext cx="1828800" cy="34747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C65B60"/>
                </a:solidFill>
                <a:latin typeface="Noto Sans CJK SC"/>
              </a:defRPr>
            </a:pPr>
            <a:r>
              <a:t>共同繁荣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4553712"/>
            <a:ext cx="1856231" cy="9601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697584"/>
                </a:solidFill>
                <a:latin typeface="Noto Sans CJK SC"/>
              </a:defRPr>
            </a:pPr>
            <a:r>
              <a:t>愿万千精彩，共同绽放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7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37744"/>
            <a:ext cx="9144000" cy="2743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B78648"/>
                </a:solidFill>
                <a:latin typeface="Noto Sans CJK SC"/>
              </a:defRPr>
            </a:pPr>
            <a:r>
              <a:t>06 / CONVERSION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972800" cy="5943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52E4A"/>
                </a:solidFill>
                <a:latin typeface="Noto Sans CJK SC"/>
              </a:defRPr>
            </a:pPr>
            <a:r>
              <a:t>「添彩杯」：一款实物，统一专属包装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298448"/>
            <a:ext cx="10972800" cy="54864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697584"/>
                </a:solidFill>
                <a:latin typeface="Noto Sans CJK SC"/>
              </a:defRPr>
            </a:pPr>
            <a:r>
              <a:t>电子添彩卡承载个性化；杯具与包装保持统一设计，避免误导为多款定制产品。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37960"/>
            <a:ext cx="11064240" cy="13716"/>
          </a:xfrm>
          <a:prstGeom prst="rect">
            <a:avLst/>
          </a:prstGeom>
          <a:solidFill>
            <a:srgbClr val="D8D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7" y="6583680"/>
            <a:ext cx="10058400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97584"/>
                </a:solidFill>
                <a:latin typeface="Noto Sans CJK SC"/>
              </a:defRPr>
            </a:pPr>
            <a:r>
              <a:t>敢为天下彩  ·  为A会添一点彩  /  线上预热H5创意提案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65392"/>
            <a:ext cx="365760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B78648"/>
                </a:solidFill>
                <a:latin typeface="Noto Sans CJK SC"/>
              </a:defRPr>
            </a:pPr>
            <a:r>
              <a:t>13</a:t>
            </a:r>
          </a:p>
        </p:txBody>
      </p:sp>
      <p:pic>
        <p:nvPicPr>
          <p:cNvPr id="10" name="Picture 9" descr="h5_mock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00200"/>
            <a:ext cx="2926080" cy="45720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023360" y="1691640"/>
            <a:ext cx="7315200" cy="1353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23360" y="1691640"/>
            <a:ext cx="50292" cy="1353312"/>
          </a:xfrm>
          <a:prstGeom prst="rect">
            <a:avLst/>
          </a:prstGeom>
          <a:solidFill>
            <a:srgbClr val="B7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24528" y="1856232"/>
            <a:ext cx="6949440" cy="4572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52E4A"/>
                </a:solidFill>
                <a:latin typeface="Noto Sans CJK SC"/>
              </a:defRPr>
            </a:pPr>
            <a:r>
              <a:t>一款真实产品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24528" y="2404872"/>
            <a:ext cx="6903720" cy="62179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697584"/>
                </a:solidFill>
                <a:latin typeface="Noto Sans CJK SC"/>
              </a:defRPr>
            </a:pPr>
            <a:r>
              <a:t>「添彩杯」数字模型展示实际杯身纹样、器型与色彩。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23360" y="3246120"/>
            <a:ext cx="7315200" cy="1353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23360" y="3246120"/>
            <a:ext cx="50292" cy="1353312"/>
          </a:xfrm>
          <a:prstGeom prst="rect">
            <a:avLst/>
          </a:prstGeom>
          <a:solidFill>
            <a:srgbClr val="367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24528" y="3410712"/>
            <a:ext cx="6949440" cy="4572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52E4A"/>
                </a:solidFill>
                <a:latin typeface="Noto Sans CJK SC"/>
              </a:defRPr>
            </a:pPr>
            <a:r>
              <a:t>一套活动专属包装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24528" y="3959352"/>
            <a:ext cx="6903720" cy="62179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697584"/>
                </a:solidFill>
                <a:latin typeface="Noto Sans CJK SC"/>
              </a:defRPr>
            </a:pPr>
            <a:r>
              <a:t>统一主题、核心广彩纹样与H5二维码；包装内容以最终商品与授权确认为准。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23360" y="4800600"/>
            <a:ext cx="731520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023360" y="4800600"/>
            <a:ext cx="50292" cy="1024128"/>
          </a:xfrm>
          <a:prstGeom prst="rect">
            <a:avLst/>
          </a:prstGeom>
          <a:solidFill>
            <a:srgbClr val="4A96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24528" y="4965192"/>
            <a:ext cx="6949440" cy="4572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52E4A"/>
                </a:solidFill>
                <a:latin typeface="Noto Sans CJK SC"/>
              </a:defRPr>
            </a:pPr>
            <a:r>
              <a:t>自主采购入口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24528" y="5513832"/>
            <a:ext cx="6903720" cy="29260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697584"/>
                </a:solidFill>
                <a:latin typeface="Noto Sans CJK SC"/>
              </a:defRPr>
            </a:pPr>
            <a:r>
              <a:t>「了解添彩杯」→ 官方产品介绍 / 采购渠道。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7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37744"/>
            <a:ext cx="9144000" cy="2743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B78648"/>
                </a:solidFill>
                <a:latin typeface="Noto Sans CJK SC"/>
              </a:defRPr>
            </a:pPr>
            <a:r>
              <a:t>07 /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972800" cy="5943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52E4A"/>
                </a:solidFill>
                <a:latin typeface="Noto Sans CJK SC"/>
              </a:defRPr>
            </a:pPr>
            <a:r>
              <a:t>视觉与技术执行建议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298448"/>
            <a:ext cx="10972800" cy="54864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697584"/>
                </a:solidFill>
                <a:latin typeface="Noto Sans CJK SC"/>
              </a:defRPr>
            </a:pPr>
            <a:r>
              <a:t>以真实杯具素材与精致数字广彩形成视觉统一。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37960"/>
            <a:ext cx="11064240" cy="13716"/>
          </a:xfrm>
          <a:prstGeom prst="rect">
            <a:avLst/>
          </a:prstGeom>
          <a:solidFill>
            <a:srgbClr val="D8D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7" y="6583680"/>
            <a:ext cx="10058400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97584"/>
                </a:solidFill>
                <a:latin typeface="Noto Sans CJK SC"/>
              </a:defRPr>
            </a:pPr>
            <a:r>
              <a:t>敢为天下彩  ·  为A会添一点彩  /  线上预热H5创意提案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65392"/>
            <a:ext cx="365760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B78648"/>
                </a:solidFill>
                <a:latin typeface="Noto Sans CJK SC"/>
              </a:defRPr>
            </a:pPr>
            <a: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37360"/>
            <a:ext cx="534924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737360"/>
            <a:ext cx="50292" cy="1691640"/>
          </a:xfrm>
          <a:prstGeom prst="rect">
            <a:avLst/>
          </a:prstGeom>
          <a:solidFill>
            <a:srgbClr val="367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01952"/>
            <a:ext cx="4983479" cy="4572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52E4A"/>
                </a:solidFill>
                <a:latin typeface="Noto Sans CJK SC"/>
              </a:defRPr>
            </a:pPr>
            <a:r>
              <a:t>视觉语言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450591"/>
            <a:ext cx="4937759" cy="9601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697584"/>
                </a:solidFill>
                <a:latin typeface="Noto Sans CJK SC"/>
              </a:defRPr>
            </a:pPr>
            <a:r>
              <a:t>瓷白留白、金彩细线、现代广彩花卉；五色只用于用户数字作品。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737360"/>
            <a:ext cx="534924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737360"/>
            <a:ext cx="50292" cy="1691640"/>
          </a:xfrm>
          <a:prstGeom prst="rect">
            <a:avLst/>
          </a:prstGeom>
          <a:solidFill>
            <a:srgbClr val="B7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901952"/>
            <a:ext cx="4983479" cy="4572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52E4A"/>
                </a:solidFill>
                <a:latin typeface="Noto Sans CJK SC"/>
              </a:defRPr>
            </a:pPr>
            <a:r>
              <a:t>3D数字产品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450591"/>
            <a:ext cx="4937759" cy="9601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697584"/>
                </a:solidFill>
                <a:latin typeface="Noto Sans CJK SC"/>
              </a:defRPr>
            </a:pPr>
            <a:r>
              <a:t>真实杯具采集；优先测试釉面、金彩与移动端性能；按效果选择3DGS或混合渲染。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657600"/>
            <a:ext cx="534924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657600"/>
            <a:ext cx="50292" cy="1691640"/>
          </a:xfrm>
          <a:prstGeom prst="rect">
            <a:avLst/>
          </a:prstGeom>
          <a:solidFill>
            <a:srgbClr val="4A96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" y="3822191"/>
            <a:ext cx="4983479" cy="4572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52E4A"/>
                </a:solidFill>
                <a:latin typeface="Noto Sans CJK SC"/>
              </a:defRPr>
            </a:pPr>
            <a:r>
              <a:t>互动与数据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4370832"/>
            <a:ext cx="4937759" cy="9601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697584"/>
                </a:solidFill>
                <a:latin typeface="Noto Sans CJK SC"/>
              </a:defRPr>
            </a:pPr>
            <a:r>
              <a:t>Canvas / SVG / WebGL实现轨迹与纹样；参与序号使用实际计数；城市昵称由用户自愿提供。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657600"/>
            <a:ext cx="534924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3657600"/>
            <a:ext cx="50292" cy="1691640"/>
          </a:xfrm>
          <a:prstGeom prst="rect">
            <a:avLst/>
          </a:prstGeom>
          <a:solidFill>
            <a:srgbClr val="806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3368" y="3822191"/>
            <a:ext cx="4983479" cy="4572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52E4A"/>
                </a:solidFill>
                <a:latin typeface="Noto Sans CJK SC"/>
              </a:defRPr>
            </a:pPr>
            <a:r>
              <a:t>素材与合规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4370832"/>
            <a:ext cx="4937759" cy="9601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697584"/>
                </a:solidFill>
                <a:latin typeface="Noto Sans CJK SC"/>
              </a:defRPr>
            </a:pPr>
            <a:r>
              <a:t>全程不出现A会Logo；主题及活动关联表述、产品安全/工艺宣传与包装内容上线前核实。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7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37744"/>
            <a:ext cx="9144000" cy="2743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B78648"/>
                </a:solidFill>
                <a:latin typeface="Noto Sans CJK SC"/>
              </a:defRPr>
            </a:pPr>
            <a:r>
              <a:t>08 / 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972800" cy="5943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52E4A"/>
                </a:solidFill>
                <a:latin typeface="Noto Sans CJK SC"/>
              </a:defRPr>
            </a:pPr>
            <a:r>
              <a:t>一人一点彩，汇聚万千精彩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298448"/>
            <a:ext cx="10972800" cy="54864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697584"/>
                </a:solidFill>
                <a:latin typeface="Noto Sans CJK SC"/>
              </a:defRPr>
            </a:pPr>
            <a:r>
              <a:t>让每个人以自己的颜色表达祝福，让一杯中国彩自然走进生活。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37960"/>
            <a:ext cx="11064240" cy="13716"/>
          </a:xfrm>
          <a:prstGeom prst="rect">
            <a:avLst/>
          </a:prstGeom>
          <a:solidFill>
            <a:srgbClr val="D8D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7" y="6583680"/>
            <a:ext cx="10058400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697584"/>
                </a:solidFill>
                <a:latin typeface="Noto Sans CJK SC"/>
              </a:defRPr>
            </a:pPr>
            <a:r>
              <a:t>敢为天下彩  ·  为A会添一点彩  /  线上预热H5创意提案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65392"/>
            <a:ext cx="365760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B78648"/>
                </a:solidFill>
                <a:latin typeface="Noto Sans CJK SC"/>
              </a:defRPr>
            </a:pPr>
            <a:r>
              <a:t>15</a:t>
            </a:r>
          </a:p>
        </p:txBody>
      </p:sp>
      <p:pic>
        <p:nvPicPr>
          <p:cNvPr id="10" name="Picture 9" descr="h5_mock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536192"/>
            <a:ext cx="2542032" cy="4526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1920240"/>
            <a:ext cx="6858000" cy="77724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3800" b="1">
                <a:solidFill>
                  <a:srgbClr val="B78648"/>
                </a:solidFill>
                <a:latin typeface="Noto Sans CJK SC"/>
              </a:defRPr>
            </a:pPr>
            <a:r>
              <a:t>敢为天下彩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80360"/>
            <a:ext cx="6949440" cy="7315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152E4A"/>
                </a:solidFill>
                <a:latin typeface="Noto Sans CJK SC"/>
              </a:defRPr>
            </a:pPr>
            <a:r>
              <a:t>为A会添一点彩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023360"/>
            <a:ext cx="6858000" cy="1508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697584"/>
                </a:solidFill>
                <a:latin typeface="Noto Sans CJK SC"/>
              </a:defRPr>
            </a:pPr>
            <a:r>
              <a:t>五色共彩 · 一人一愿</a:t>
            </a:r>
          </a:p>
          <a:p>
            <a:pPr>
              <a:spcAft>
                <a:spcPts val="900"/>
              </a:spcAft>
              <a:defRPr sz="1800" b="0">
                <a:solidFill>
                  <a:srgbClr val="697584"/>
                </a:solidFill>
                <a:latin typeface="Noto Sans CJK SC"/>
              </a:defRPr>
            </a:pPr>
            <a:r>
              <a:t>数字广彩 · 专属添彩卡</a:t>
            </a:r>
          </a:p>
          <a:p>
            <a:pPr>
              <a:spcAft>
                <a:spcPts val="900"/>
              </a:spcAft>
              <a:defRPr sz="1800" b="0">
                <a:solidFill>
                  <a:srgbClr val="697584"/>
                </a:solidFill>
                <a:latin typeface="Noto Sans CJK SC"/>
              </a:defRPr>
            </a:pPr>
            <a:r>
              <a:t>一款添彩杯 · 一套专属包装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